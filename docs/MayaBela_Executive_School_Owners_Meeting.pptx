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warm: thank them for time. Promise: 12 minutes — problem, national context, why MayaBela is different, clear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to mention if asked: ENA (Jan 2026) MoE on Digital Ethiopia 2030; MoE Digital Education Strategy 2023–2028 (platforms, skills, PPP). Do not overclaim government endorsement of MayaBela — say we help schools align with the national digital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respectful of competitors. Never say they are “bad”. Say: they digitize records well; MayaBela is for owners who need control of the whole institution.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 range 200–400 + 15% VAT per student. Recommend Standard (300) unless multi-campus/transport/inventory → Campus+ (400).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ask: “Give us one campus or one grade for 30–60 days. If leadership does not feel control improve, we stop. If it does — we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Amharic leave-behind. Emphasize 200-400 + 15% VAT and approve-before-publish grades.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talking. Offer live walkthrough of owner dashboard + parent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5E59"/>
          </a:solidFill>
          <a:ln/>
        </p:spPr>
      </p:sp>
      <p:sp>
        <p:nvSpPr>
          <p:cNvPr id="3" name="Shape 1"/>
          <p:cNvSpPr/>
          <p:nvPr/>
        </p:nvSpPr>
        <p:spPr>
          <a:xfrm>
            <a:off x="0" y="5303520"/>
            <a:ext cx="12191695" cy="1554480"/>
          </a:xfrm>
          <a:prstGeom prst="rect">
            <a:avLst/>
          </a:prstGeom>
          <a:solidFill>
            <a:srgbClr val="0F766E"/>
          </a:solidFill>
          <a:ln/>
        </p:spPr>
      </p:sp>
      <p:sp>
        <p:nvSpPr>
          <p:cNvPr id="4" name="Text 2"/>
          <p:cNvSpPr/>
          <p:nvPr/>
        </p:nvSpPr>
        <p:spPr>
          <a:xfrm>
            <a:off x="640080" y="1463040"/>
            <a:ext cx="10972800" cy="457200"/>
          </a:xfrm>
          <a:prstGeom prst="rect">
            <a:avLst/>
          </a:prstGeom>
          <a:noFill/>
          <a:ln/>
        </p:spPr>
        <p:txBody>
          <a:bodyPr wrap="square" rtlCol="0" anchor="ctr"/>
          <a:lstStyle/>
          <a:p>
            <a:pPr indent="0" marL="0">
              <a:buNone/>
            </a:pPr>
            <a:r>
              <a:rPr lang="en-US" sz="1800" b="1" spc="600" kern="0" dirty="0">
                <a:solidFill>
                  <a:srgbClr val="CCFBF1"/>
                </a:solidFill>
                <a:latin typeface="Calibri" pitchFamily="34" charset="0"/>
                <a:ea typeface="Calibri" pitchFamily="34" charset="-122"/>
                <a:cs typeface="Calibri" pitchFamily="34" charset="-120"/>
              </a:rPr>
              <a:t>MAYA BELA</a:t>
            </a:r>
            <a:endParaRPr lang="en-US" sz="1800" dirty="0"/>
          </a:p>
        </p:txBody>
      </p:sp>
      <p:sp>
        <p:nvSpPr>
          <p:cNvPr id="5" name="Text 3"/>
          <p:cNvSpPr/>
          <p:nvPr/>
        </p:nvSpPr>
        <p:spPr>
          <a:xfrm>
            <a:off x="640080" y="2011680"/>
            <a:ext cx="10515600" cy="146304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The school operating system</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for Ethiopia’s digital decade</a:t>
            </a:r>
            <a:endParaRPr lang="en-US" sz="3600" dirty="0"/>
          </a:p>
        </p:txBody>
      </p:sp>
      <p:sp>
        <p:nvSpPr>
          <p:cNvPr id="6" name="Text 4"/>
          <p:cNvSpPr/>
          <p:nvPr/>
        </p:nvSpPr>
        <p:spPr>
          <a:xfrm>
            <a:off x="640080" y="3840480"/>
            <a:ext cx="10515600" cy="365760"/>
          </a:xfrm>
          <a:prstGeom prst="rect">
            <a:avLst/>
          </a:prstGeom>
          <a:noFill/>
          <a:ln/>
        </p:spPr>
        <p:txBody>
          <a:bodyPr wrap="square" rtlCol="0" anchor="ctr"/>
          <a:lstStyle/>
          <a:p>
            <a:pPr indent="0" marL="0">
              <a:buNone/>
            </a:pPr>
            <a:r>
              <a:rPr lang="en-US" sz="1600" dirty="0">
                <a:solidFill>
                  <a:srgbClr val="CCFBF1"/>
                </a:solidFill>
                <a:latin typeface="Calibri" pitchFamily="34" charset="0"/>
                <a:ea typeface="Calibri" pitchFamily="34" charset="-122"/>
                <a:cs typeface="Calibri" pitchFamily="34" charset="-120"/>
              </a:rPr>
              <a:t>Executive briefing for school owners &amp; top management  ·  12 minutes</a:t>
            </a:r>
            <a:endParaRPr lang="en-US" sz="1600" dirty="0"/>
          </a:p>
        </p:txBody>
      </p:sp>
      <p:sp>
        <p:nvSpPr>
          <p:cNvPr id="7" name="Text 5"/>
          <p:cNvSpPr/>
          <p:nvPr/>
        </p:nvSpPr>
        <p:spPr>
          <a:xfrm>
            <a:off x="640080" y="5715000"/>
            <a:ext cx="10515600" cy="3657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Live: mayabela.pages.dev   ·   Support: +251 911 646 444</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F766E"/>
          </a:solidFill>
          <a:ln/>
        </p:spPr>
      </p:sp>
      <p:sp>
        <p:nvSpPr>
          <p:cNvPr id="3" name="Text 1"/>
          <p:cNvSpPr/>
          <p:nvPr/>
        </p:nvSpPr>
        <p:spPr>
          <a:xfrm>
            <a:off x="411480" y="164592"/>
            <a:ext cx="11338560" cy="36576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Today’s agenda</a:t>
            </a:r>
            <a:endParaRPr lang="en-US" sz="2200" dirty="0"/>
          </a:p>
        </p:txBody>
      </p:sp>
      <p:sp>
        <p:nvSpPr>
          <p:cNvPr id="4" name="Text 2"/>
          <p:cNvSpPr/>
          <p:nvPr/>
        </p:nvSpPr>
        <p:spPr>
          <a:xfrm>
            <a:off x="411480" y="530352"/>
            <a:ext cx="11338560" cy="292608"/>
          </a:xfrm>
          <a:prstGeom prst="rect">
            <a:avLst/>
          </a:prstGeom>
          <a:noFill/>
          <a:ln/>
        </p:spPr>
        <p:txBody>
          <a:bodyPr wrap="square" rtlCol="0" anchor="ctr"/>
          <a:lstStyle/>
          <a:p>
            <a:pPr indent="0" marL="0">
              <a:buNone/>
            </a:pPr>
            <a:r>
              <a:rPr lang="en-US" sz="1200" dirty="0">
                <a:solidFill>
                  <a:srgbClr val="CCFBF1"/>
                </a:solidFill>
                <a:latin typeface="Calibri" pitchFamily="34" charset="0"/>
                <a:ea typeface="Calibri" pitchFamily="34" charset="-122"/>
                <a:cs typeface="Calibri" pitchFamily="34" charset="-120"/>
              </a:rPr>
              <a:t>One story — not a feature dump</a:t>
            </a:r>
            <a:endParaRPr lang="en-US" sz="1200" dirty="0"/>
          </a:p>
        </p:txBody>
      </p:sp>
      <p:sp>
        <p:nvSpPr>
          <p:cNvPr id="5" name="Shape 3"/>
          <p:cNvSpPr/>
          <p:nvPr/>
        </p:nvSpPr>
        <p:spPr>
          <a:xfrm>
            <a:off x="457200" y="1280160"/>
            <a:ext cx="11247120" cy="731520"/>
          </a:xfrm>
          <a:prstGeom prst="roundRect">
            <a:avLst>
              <a:gd name="adj" fmla="val 12500"/>
            </a:avLst>
          </a:prstGeom>
          <a:solidFill>
            <a:srgbClr val="F1F5F9"/>
          </a:solidFill>
          <a:ln/>
        </p:spPr>
      </p:sp>
      <p:sp>
        <p:nvSpPr>
          <p:cNvPr id="6" name="Text 4"/>
          <p:cNvSpPr/>
          <p:nvPr/>
        </p:nvSpPr>
        <p:spPr>
          <a:xfrm>
            <a:off x="640080" y="1444752"/>
            <a:ext cx="914400" cy="411480"/>
          </a:xfrm>
          <a:prstGeom prst="rect">
            <a:avLst/>
          </a:prstGeom>
          <a:noFill/>
          <a:ln/>
        </p:spPr>
        <p:txBody>
          <a:bodyPr wrap="square" rtlCol="0" anchor="ctr"/>
          <a:lstStyle/>
          <a:p>
            <a:pPr indent="0" marL="0">
              <a:buNone/>
            </a:pPr>
            <a:r>
              <a:rPr lang="en-US" sz="2000" b="1" dirty="0">
                <a:solidFill>
                  <a:srgbClr val="0F766E"/>
                </a:solidFill>
                <a:latin typeface="Calibri" pitchFamily="34" charset="0"/>
                <a:ea typeface="Calibri" pitchFamily="34" charset="-122"/>
                <a:cs typeface="Calibri" pitchFamily="34" charset="-120"/>
              </a:rPr>
              <a:t>01</a:t>
            </a:r>
            <a:endParaRPr lang="en-US" sz="2000" dirty="0"/>
          </a:p>
        </p:txBody>
      </p:sp>
      <p:sp>
        <p:nvSpPr>
          <p:cNvPr id="7" name="Text 5"/>
          <p:cNvSpPr/>
          <p:nvPr/>
        </p:nvSpPr>
        <p:spPr>
          <a:xfrm>
            <a:off x="1737360" y="1463040"/>
            <a:ext cx="9601200" cy="411480"/>
          </a:xfrm>
          <a:prstGeom prst="rect">
            <a:avLst/>
          </a:prstGeom>
          <a:noFill/>
          <a:ln/>
        </p:spPr>
        <p:txBody>
          <a:bodyPr wrap="square" rtlCol="0" anchor="ctr"/>
          <a:lstStyle/>
          <a:p>
            <a:pPr indent="0" marL="0">
              <a:buNone/>
            </a:pPr>
            <a:r>
              <a:rPr lang="en-US" sz="1800" dirty="0">
                <a:solidFill>
                  <a:srgbClr val="0F172A"/>
                </a:solidFill>
                <a:latin typeface="Calibri" pitchFamily="34" charset="0"/>
                <a:ea typeface="Calibri" pitchFamily="34" charset="-122"/>
                <a:cs typeface="Calibri" pitchFamily="34" charset="-120"/>
              </a:rPr>
              <a:t>Why this moment matters — Digital Ethiopia</a:t>
            </a:r>
            <a:endParaRPr lang="en-US" sz="1800" dirty="0"/>
          </a:p>
        </p:txBody>
      </p:sp>
      <p:sp>
        <p:nvSpPr>
          <p:cNvPr id="8" name="Shape 6"/>
          <p:cNvSpPr/>
          <p:nvPr/>
        </p:nvSpPr>
        <p:spPr>
          <a:xfrm>
            <a:off x="457200" y="2148840"/>
            <a:ext cx="11247120" cy="731520"/>
          </a:xfrm>
          <a:prstGeom prst="roundRect">
            <a:avLst>
              <a:gd name="adj" fmla="val 12500"/>
            </a:avLst>
          </a:prstGeom>
          <a:solidFill>
            <a:srgbClr val="FFFFFF"/>
          </a:solidFill>
          <a:ln/>
        </p:spPr>
      </p:sp>
      <p:sp>
        <p:nvSpPr>
          <p:cNvPr id="9" name="Text 7"/>
          <p:cNvSpPr/>
          <p:nvPr/>
        </p:nvSpPr>
        <p:spPr>
          <a:xfrm>
            <a:off x="640080" y="2313432"/>
            <a:ext cx="914400" cy="411480"/>
          </a:xfrm>
          <a:prstGeom prst="rect">
            <a:avLst/>
          </a:prstGeom>
          <a:noFill/>
          <a:ln/>
        </p:spPr>
        <p:txBody>
          <a:bodyPr wrap="square" rtlCol="0" anchor="ctr"/>
          <a:lstStyle/>
          <a:p>
            <a:pPr indent="0" marL="0">
              <a:buNone/>
            </a:pPr>
            <a:r>
              <a:rPr lang="en-US" sz="2000" b="1" dirty="0">
                <a:solidFill>
                  <a:srgbClr val="0F766E"/>
                </a:solidFill>
                <a:latin typeface="Calibri" pitchFamily="34" charset="0"/>
                <a:ea typeface="Calibri" pitchFamily="34" charset="-122"/>
                <a:cs typeface="Calibri" pitchFamily="34" charset="-120"/>
              </a:rPr>
              <a:t>02</a:t>
            </a:r>
            <a:endParaRPr lang="en-US" sz="2000" dirty="0"/>
          </a:p>
        </p:txBody>
      </p:sp>
      <p:sp>
        <p:nvSpPr>
          <p:cNvPr id="10" name="Text 8"/>
          <p:cNvSpPr/>
          <p:nvPr/>
        </p:nvSpPr>
        <p:spPr>
          <a:xfrm>
            <a:off x="1737360" y="2331720"/>
            <a:ext cx="9601200" cy="411480"/>
          </a:xfrm>
          <a:prstGeom prst="rect">
            <a:avLst/>
          </a:prstGeom>
          <a:noFill/>
          <a:ln/>
        </p:spPr>
        <p:txBody>
          <a:bodyPr wrap="square" rtlCol="0" anchor="ctr"/>
          <a:lstStyle/>
          <a:p>
            <a:pPr indent="0" marL="0">
              <a:buNone/>
            </a:pPr>
            <a:r>
              <a:rPr lang="en-US" sz="1800" dirty="0">
                <a:solidFill>
                  <a:srgbClr val="0F172A"/>
                </a:solidFill>
                <a:latin typeface="Calibri" pitchFamily="34" charset="0"/>
                <a:ea typeface="Calibri" pitchFamily="34" charset="-122"/>
                <a:cs typeface="Calibri" pitchFamily="34" charset="-120"/>
              </a:rPr>
              <a:t>The real problems school leaders still face</a:t>
            </a:r>
            <a:endParaRPr lang="en-US" sz="1800" dirty="0"/>
          </a:p>
        </p:txBody>
      </p:sp>
      <p:sp>
        <p:nvSpPr>
          <p:cNvPr id="11" name="Shape 9"/>
          <p:cNvSpPr/>
          <p:nvPr/>
        </p:nvSpPr>
        <p:spPr>
          <a:xfrm>
            <a:off x="457200" y="3017520"/>
            <a:ext cx="11247120" cy="731520"/>
          </a:xfrm>
          <a:prstGeom prst="roundRect">
            <a:avLst>
              <a:gd name="adj" fmla="val 12500"/>
            </a:avLst>
          </a:prstGeom>
          <a:solidFill>
            <a:srgbClr val="F1F5F9"/>
          </a:solidFill>
          <a:ln/>
        </p:spPr>
      </p:sp>
      <p:sp>
        <p:nvSpPr>
          <p:cNvPr id="12" name="Text 10"/>
          <p:cNvSpPr/>
          <p:nvPr/>
        </p:nvSpPr>
        <p:spPr>
          <a:xfrm>
            <a:off x="640080" y="3182112"/>
            <a:ext cx="914400" cy="411480"/>
          </a:xfrm>
          <a:prstGeom prst="rect">
            <a:avLst/>
          </a:prstGeom>
          <a:noFill/>
          <a:ln/>
        </p:spPr>
        <p:txBody>
          <a:bodyPr wrap="square" rtlCol="0" anchor="ctr"/>
          <a:lstStyle/>
          <a:p>
            <a:pPr indent="0" marL="0">
              <a:buNone/>
            </a:pPr>
            <a:r>
              <a:rPr lang="en-US" sz="2000" b="1" dirty="0">
                <a:solidFill>
                  <a:srgbClr val="0F766E"/>
                </a:solidFill>
                <a:latin typeface="Calibri" pitchFamily="34" charset="0"/>
                <a:ea typeface="Calibri" pitchFamily="34" charset="-122"/>
                <a:cs typeface="Calibri" pitchFamily="34" charset="-120"/>
              </a:rPr>
              <a:t>03</a:t>
            </a:r>
            <a:endParaRPr lang="en-US" sz="2000" dirty="0"/>
          </a:p>
        </p:txBody>
      </p:sp>
      <p:sp>
        <p:nvSpPr>
          <p:cNvPr id="13" name="Text 11"/>
          <p:cNvSpPr/>
          <p:nvPr/>
        </p:nvSpPr>
        <p:spPr>
          <a:xfrm>
            <a:off x="1737360" y="3200400"/>
            <a:ext cx="9601200" cy="411480"/>
          </a:xfrm>
          <a:prstGeom prst="rect">
            <a:avLst/>
          </a:prstGeom>
          <a:noFill/>
          <a:ln/>
        </p:spPr>
        <p:txBody>
          <a:bodyPr wrap="square" rtlCol="0" anchor="ctr"/>
          <a:lstStyle/>
          <a:p>
            <a:pPr indent="0" marL="0">
              <a:buNone/>
            </a:pPr>
            <a:r>
              <a:rPr lang="en-US" sz="1800" dirty="0">
                <a:solidFill>
                  <a:srgbClr val="0F172A"/>
                </a:solidFill>
                <a:latin typeface="Calibri" pitchFamily="34" charset="0"/>
                <a:ea typeface="Calibri" pitchFamily="34" charset="-122"/>
                <a:cs typeface="Calibri" pitchFamily="34" charset="-120"/>
              </a:rPr>
              <a:t>How most school apps compare (honest research)</a:t>
            </a:r>
            <a:endParaRPr lang="en-US" sz="1800" dirty="0"/>
          </a:p>
        </p:txBody>
      </p:sp>
      <p:sp>
        <p:nvSpPr>
          <p:cNvPr id="14" name="Shape 12"/>
          <p:cNvSpPr/>
          <p:nvPr/>
        </p:nvSpPr>
        <p:spPr>
          <a:xfrm>
            <a:off x="457200" y="3886200"/>
            <a:ext cx="11247120" cy="731520"/>
          </a:xfrm>
          <a:prstGeom prst="roundRect">
            <a:avLst>
              <a:gd name="adj" fmla="val 12500"/>
            </a:avLst>
          </a:prstGeom>
          <a:solidFill>
            <a:srgbClr val="FFFFFF"/>
          </a:solidFill>
          <a:ln/>
        </p:spPr>
      </p:sp>
      <p:sp>
        <p:nvSpPr>
          <p:cNvPr id="15" name="Text 13"/>
          <p:cNvSpPr/>
          <p:nvPr/>
        </p:nvSpPr>
        <p:spPr>
          <a:xfrm>
            <a:off x="640080" y="4050792"/>
            <a:ext cx="914400" cy="411480"/>
          </a:xfrm>
          <a:prstGeom prst="rect">
            <a:avLst/>
          </a:prstGeom>
          <a:noFill/>
          <a:ln/>
        </p:spPr>
        <p:txBody>
          <a:bodyPr wrap="square" rtlCol="0" anchor="ctr"/>
          <a:lstStyle/>
          <a:p>
            <a:pPr indent="0" marL="0">
              <a:buNone/>
            </a:pPr>
            <a:r>
              <a:rPr lang="en-US" sz="2000" b="1" dirty="0">
                <a:solidFill>
                  <a:srgbClr val="0F766E"/>
                </a:solidFill>
                <a:latin typeface="Calibri" pitchFamily="34" charset="0"/>
                <a:ea typeface="Calibri" pitchFamily="34" charset="-122"/>
                <a:cs typeface="Calibri" pitchFamily="34" charset="-120"/>
              </a:rPr>
              <a:t>04</a:t>
            </a:r>
            <a:endParaRPr lang="en-US" sz="2000" dirty="0"/>
          </a:p>
        </p:txBody>
      </p:sp>
      <p:sp>
        <p:nvSpPr>
          <p:cNvPr id="16" name="Text 14"/>
          <p:cNvSpPr/>
          <p:nvPr/>
        </p:nvSpPr>
        <p:spPr>
          <a:xfrm>
            <a:off x="1737360" y="4069080"/>
            <a:ext cx="9601200" cy="411480"/>
          </a:xfrm>
          <a:prstGeom prst="rect">
            <a:avLst/>
          </a:prstGeom>
          <a:noFill/>
          <a:ln/>
        </p:spPr>
        <p:txBody>
          <a:bodyPr wrap="square" rtlCol="0" anchor="ctr"/>
          <a:lstStyle/>
          <a:p>
            <a:pPr indent="0" marL="0">
              <a:buNone/>
            </a:pPr>
            <a:r>
              <a:rPr lang="en-US" sz="1800" dirty="0">
                <a:solidFill>
                  <a:srgbClr val="0F172A"/>
                </a:solidFill>
                <a:latin typeface="Calibri" pitchFamily="34" charset="0"/>
                <a:ea typeface="Calibri" pitchFamily="34" charset="-122"/>
                <a:cs typeface="Calibri" pitchFamily="34" charset="-120"/>
              </a:rPr>
              <a:t>What MayaBela offers that changes ownership</a:t>
            </a:r>
            <a:endParaRPr lang="en-US" sz="1800" dirty="0"/>
          </a:p>
        </p:txBody>
      </p:sp>
      <p:sp>
        <p:nvSpPr>
          <p:cNvPr id="17" name="Shape 15"/>
          <p:cNvSpPr/>
          <p:nvPr/>
        </p:nvSpPr>
        <p:spPr>
          <a:xfrm>
            <a:off x="457200" y="4754880"/>
            <a:ext cx="11247120" cy="731520"/>
          </a:xfrm>
          <a:prstGeom prst="roundRect">
            <a:avLst>
              <a:gd name="adj" fmla="val 12500"/>
            </a:avLst>
          </a:prstGeom>
          <a:solidFill>
            <a:srgbClr val="F1F5F9"/>
          </a:solidFill>
          <a:ln/>
        </p:spPr>
      </p:sp>
      <p:sp>
        <p:nvSpPr>
          <p:cNvPr id="18" name="Text 16"/>
          <p:cNvSpPr/>
          <p:nvPr/>
        </p:nvSpPr>
        <p:spPr>
          <a:xfrm>
            <a:off x="640080" y="4919472"/>
            <a:ext cx="914400" cy="411480"/>
          </a:xfrm>
          <a:prstGeom prst="rect">
            <a:avLst/>
          </a:prstGeom>
          <a:noFill/>
          <a:ln/>
        </p:spPr>
        <p:txBody>
          <a:bodyPr wrap="square" rtlCol="0" anchor="ctr"/>
          <a:lstStyle/>
          <a:p>
            <a:pPr indent="0" marL="0">
              <a:buNone/>
            </a:pPr>
            <a:r>
              <a:rPr lang="en-US" sz="2000" b="1" dirty="0">
                <a:solidFill>
                  <a:srgbClr val="0F766E"/>
                </a:solidFill>
                <a:latin typeface="Calibri" pitchFamily="34" charset="0"/>
                <a:ea typeface="Calibri" pitchFamily="34" charset="-122"/>
                <a:cs typeface="Calibri" pitchFamily="34" charset="-120"/>
              </a:rPr>
              <a:t>05</a:t>
            </a:r>
            <a:endParaRPr lang="en-US" sz="2000" dirty="0"/>
          </a:p>
        </p:txBody>
      </p:sp>
      <p:sp>
        <p:nvSpPr>
          <p:cNvPr id="19" name="Text 17"/>
          <p:cNvSpPr/>
          <p:nvPr/>
        </p:nvSpPr>
        <p:spPr>
          <a:xfrm>
            <a:off x="1737360" y="4937760"/>
            <a:ext cx="9601200" cy="411480"/>
          </a:xfrm>
          <a:prstGeom prst="rect">
            <a:avLst/>
          </a:prstGeom>
          <a:noFill/>
          <a:ln/>
        </p:spPr>
        <p:txBody>
          <a:bodyPr wrap="square" rtlCol="0" anchor="ctr"/>
          <a:lstStyle/>
          <a:p>
            <a:pPr indent="0" marL="0">
              <a:buNone/>
            </a:pPr>
            <a:r>
              <a:rPr lang="en-US" sz="1800" dirty="0">
                <a:solidFill>
                  <a:srgbClr val="0F172A"/>
                </a:solidFill>
                <a:latin typeface="Calibri" pitchFamily="34" charset="0"/>
                <a:ea typeface="Calibri" pitchFamily="34" charset="-122"/>
                <a:cs typeface="Calibri" pitchFamily="34" charset="-120"/>
              </a:rPr>
              <a:t>Quality, control &amp; a simple decision path</a:t>
            </a:r>
            <a:endParaRPr lang="en-US" sz="1800" dirty="0"/>
          </a:p>
        </p:txBody>
      </p:sp>
      <p:sp>
        <p:nvSpPr>
          <p:cNvPr id="20" name="Text 18"/>
          <p:cNvSpPr/>
          <p:nvPr/>
        </p:nvSpPr>
        <p:spPr>
          <a:xfrm>
            <a:off x="365760" y="6537960"/>
            <a:ext cx="9601200" cy="22860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MayaBela · Confidential · School leadership briefing</a:t>
            </a:r>
            <a:endParaRPr lang="en-US" sz="900" dirty="0"/>
          </a:p>
        </p:txBody>
      </p:sp>
      <p:sp>
        <p:nvSpPr>
          <p:cNvPr id="21" name="Text 19"/>
          <p:cNvSpPr/>
          <p:nvPr/>
        </p:nvSpPr>
        <p:spPr>
          <a:xfrm>
            <a:off x="10789920" y="6537960"/>
            <a:ext cx="914400" cy="22860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F766E"/>
          </a:solidFill>
          <a:ln/>
        </p:spPr>
      </p:sp>
      <p:sp>
        <p:nvSpPr>
          <p:cNvPr id="3" name="Text 1"/>
          <p:cNvSpPr/>
          <p:nvPr/>
        </p:nvSpPr>
        <p:spPr>
          <a:xfrm>
            <a:off x="411480" y="164592"/>
            <a:ext cx="11338560" cy="36576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Ethiopia is choosing digital — education is on the map</a:t>
            </a:r>
            <a:endParaRPr lang="en-US" sz="2200" dirty="0"/>
          </a:p>
        </p:txBody>
      </p:sp>
      <p:sp>
        <p:nvSpPr>
          <p:cNvPr id="4" name="Text 2"/>
          <p:cNvSpPr/>
          <p:nvPr/>
        </p:nvSpPr>
        <p:spPr>
          <a:xfrm>
            <a:off x="411480" y="530352"/>
            <a:ext cx="11338560" cy="292608"/>
          </a:xfrm>
          <a:prstGeom prst="rect">
            <a:avLst/>
          </a:prstGeom>
          <a:noFill/>
          <a:ln/>
        </p:spPr>
        <p:txBody>
          <a:bodyPr wrap="square" rtlCol="0" anchor="ctr"/>
          <a:lstStyle/>
          <a:p>
            <a:pPr indent="0" marL="0">
              <a:buNone/>
            </a:pPr>
            <a:r>
              <a:rPr lang="en-US" sz="1200" dirty="0">
                <a:solidFill>
                  <a:srgbClr val="CCFBF1"/>
                </a:solidFill>
                <a:latin typeface="Calibri" pitchFamily="34" charset="0"/>
                <a:ea typeface="Calibri" pitchFamily="34" charset="-122"/>
                <a:cs typeface="Calibri" pitchFamily="34" charset="-120"/>
              </a:rPr>
              <a:t>National direction your school can align with now</a:t>
            </a:r>
            <a:endParaRPr lang="en-US" sz="1200" dirty="0"/>
          </a:p>
        </p:txBody>
      </p:sp>
      <p:sp>
        <p:nvSpPr>
          <p:cNvPr id="5" name="Shape 3"/>
          <p:cNvSpPr/>
          <p:nvPr/>
        </p:nvSpPr>
        <p:spPr>
          <a:xfrm>
            <a:off x="411480" y="1188720"/>
            <a:ext cx="11338560" cy="1417320"/>
          </a:xfrm>
          <a:prstGeom prst="roundRect">
            <a:avLst>
              <a:gd name="adj" fmla="val 6452"/>
            </a:avLst>
          </a:prstGeom>
          <a:solidFill>
            <a:srgbClr val="FFFBEB"/>
          </a:solidFill>
          <a:ln/>
        </p:spPr>
      </p:sp>
      <p:sp>
        <p:nvSpPr>
          <p:cNvPr id="6" name="Text 4"/>
          <p:cNvSpPr/>
          <p:nvPr/>
        </p:nvSpPr>
        <p:spPr>
          <a:xfrm>
            <a:off x="640080" y="1371600"/>
            <a:ext cx="10881360" cy="1143000"/>
          </a:xfrm>
          <a:prstGeom prst="rect">
            <a:avLst/>
          </a:prstGeom>
          <a:noFill/>
          <a:ln/>
        </p:spPr>
        <p:txBody>
          <a:bodyPr wrap="square" rtlCol="0" anchor="ctr"/>
          <a:lstStyle/>
          <a:p>
            <a:pPr indent="0" marL="0">
              <a:buNone/>
            </a:pPr>
            <a:r>
              <a:rPr lang="en-US" sz="1400" dirty="0">
                <a:solidFill>
                  <a:srgbClr val="0F172A"/>
                </a:solidFill>
                <a:latin typeface="Calibri" pitchFamily="34" charset="0"/>
                <a:ea typeface="Calibri" pitchFamily="34" charset="-122"/>
                <a:cs typeface="Calibri" pitchFamily="34" charset="-120"/>
              </a:rPr>
              <a:t>Digital Ethiopia 2025 laid the foundation. Digital Ethiopia 2030 (launched Oct 2025) deepens automation, trust, and citizen services. The Ministry of Education has said the strategy will boost education quality and access — and MoE’s Digital Education Strategy prioritizes platforms, digital skills, and public–private innovation.</a:t>
            </a:r>
            <a:endParaRPr lang="en-US" sz="1400" dirty="0"/>
          </a:p>
        </p:txBody>
      </p:sp>
      <p:sp>
        <p:nvSpPr>
          <p:cNvPr id="7" name="Shape 5"/>
          <p:cNvSpPr/>
          <p:nvPr/>
        </p:nvSpPr>
        <p:spPr>
          <a:xfrm>
            <a:off x="411480" y="2880360"/>
            <a:ext cx="3657600" cy="2926080"/>
          </a:xfrm>
          <a:prstGeom prst="roundRect">
            <a:avLst>
              <a:gd name="adj" fmla="val 3750"/>
            </a:avLst>
          </a:prstGeom>
          <a:solidFill>
            <a:srgbClr val="F1F5F9"/>
          </a:solidFill>
          <a:ln/>
        </p:spPr>
      </p:sp>
      <p:sp>
        <p:nvSpPr>
          <p:cNvPr id="8" name="Shape 6"/>
          <p:cNvSpPr/>
          <p:nvPr/>
        </p:nvSpPr>
        <p:spPr>
          <a:xfrm>
            <a:off x="411480" y="2880360"/>
            <a:ext cx="3657600" cy="109728"/>
          </a:xfrm>
          <a:prstGeom prst="rect">
            <a:avLst/>
          </a:prstGeom>
          <a:solidFill>
            <a:srgbClr val="0F766E"/>
          </a:solidFill>
          <a:ln/>
        </p:spPr>
      </p:sp>
      <p:sp>
        <p:nvSpPr>
          <p:cNvPr id="9" name="Text 7"/>
          <p:cNvSpPr/>
          <p:nvPr/>
        </p:nvSpPr>
        <p:spPr>
          <a:xfrm>
            <a:off x="640080" y="3200400"/>
            <a:ext cx="3200400" cy="457200"/>
          </a:xfrm>
          <a:prstGeom prst="rect">
            <a:avLst/>
          </a:prstGeom>
          <a:noFill/>
          <a:ln/>
        </p:spPr>
        <p:txBody>
          <a:bodyPr wrap="square" rtlCol="0" anchor="ctr"/>
          <a:lstStyle/>
          <a:p>
            <a:pPr indent="0" marL="0">
              <a:buNone/>
            </a:pPr>
            <a:r>
              <a:rPr lang="en-US" sz="1600" b="1" dirty="0">
                <a:solidFill>
                  <a:srgbClr val="115E59"/>
                </a:solidFill>
                <a:latin typeface="Calibri" pitchFamily="34" charset="0"/>
                <a:ea typeface="Calibri" pitchFamily="34" charset="-122"/>
                <a:cs typeface="Calibri" pitchFamily="34" charset="-120"/>
              </a:rPr>
              <a:t>For the nation</a:t>
            </a:r>
            <a:endParaRPr lang="en-US" sz="1600" dirty="0"/>
          </a:p>
        </p:txBody>
      </p:sp>
      <p:sp>
        <p:nvSpPr>
          <p:cNvPr id="10" name="Text 8"/>
          <p:cNvSpPr/>
          <p:nvPr/>
        </p:nvSpPr>
        <p:spPr>
          <a:xfrm>
            <a:off x="640080" y="3794760"/>
            <a:ext cx="3200400" cy="1645920"/>
          </a:xfrm>
          <a:prstGeom prst="rect">
            <a:avLst/>
          </a:prstGeom>
          <a:noFill/>
          <a:ln/>
        </p:spPr>
        <p:txBody>
          <a:bodyPr wrap="square" rtlCol="0" anchor="ctr"/>
          <a:lstStyle/>
          <a:p>
            <a:pPr indent="0" marL="0">
              <a:buNone/>
            </a:pPr>
            <a:r>
              <a:rPr lang="en-US" sz="1400" dirty="0">
                <a:solidFill>
                  <a:srgbClr val="0F172A"/>
                </a:solidFill>
                <a:latin typeface="Calibri" pitchFamily="34" charset="0"/>
                <a:ea typeface="Calibri" pitchFamily="34" charset="-122"/>
                <a:cs typeface="Calibri" pitchFamily="34" charset="-120"/>
              </a:rPr>
              <a:t>Digitize services, raise trust, expand access beyond paper bureaucracy.</a:t>
            </a:r>
            <a:endParaRPr lang="en-US" sz="1400" dirty="0"/>
          </a:p>
        </p:txBody>
      </p:sp>
      <p:sp>
        <p:nvSpPr>
          <p:cNvPr id="11" name="Shape 9"/>
          <p:cNvSpPr/>
          <p:nvPr/>
        </p:nvSpPr>
        <p:spPr>
          <a:xfrm>
            <a:off x="4251960" y="2880360"/>
            <a:ext cx="3657600" cy="2926080"/>
          </a:xfrm>
          <a:prstGeom prst="roundRect">
            <a:avLst>
              <a:gd name="adj" fmla="val 3750"/>
            </a:avLst>
          </a:prstGeom>
          <a:solidFill>
            <a:srgbClr val="F1F5F9"/>
          </a:solidFill>
          <a:ln/>
        </p:spPr>
      </p:sp>
      <p:sp>
        <p:nvSpPr>
          <p:cNvPr id="12" name="Shape 10"/>
          <p:cNvSpPr/>
          <p:nvPr/>
        </p:nvSpPr>
        <p:spPr>
          <a:xfrm>
            <a:off x="4251960" y="2880360"/>
            <a:ext cx="3657600" cy="109728"/>
          </a:xfrm>
          <a:prstGeom prst="rect">
            <a:avLst/>
          </a:prstGeom>
          <a:solidFill>
            <a:srgbClr val="0F766E"/>
          </a:solidFill>
          <a:ln/>
        </p:spPr>
      </p:sp>
      <p:sp>
        <p:nvSpPr>
          <p:cNvPr id="13" name="Text 11"/>
          <p:cNvSpPr/>
          <p:nvPr/>
        </p:nvSpPr>
        <p:spPr>
          <a:xfrm>
            <a:off x="4480560" y="3200400"/>
            <a:ext cx="3200400" cy="457200"/>
          </a:xfrm>
          <a:prstGeom prst="rect">
            <a:avLst/>
          </a:prstGeom>
          <a:noFill/>
          <a:ln/>
        </p:spPr>
        <p:txBody>
          <a:bodyPr wrap="square" rtlCol="0" anchor="ctr"/>
          <a:lstStyle/>
          <a:p>
            <a:pPr indent="0" marL="0">
              <a:buNone/>
            </a:pPr>
            <a:r>
              <a:rPr lang="en-US" sz="1600" b="1" dirty="0">
                <a:solidFill>
                  <a:srgbClr val="115E59"/>
                </a:solidFill>
                <a:latin typeface="Calibri" pitchFamily="34" charset="0"/>
                <a:ea typeface="Calibri" pitchFamily="34" charset="-122"/>
                <a:cs typeface="Calibri" pitchFamily="34" charset="-120"/>
              </a:rPr>
              <a:t>For private schools</a:t>
            </a:r>
            <a:endParaRPr lang="en-US" sz="1600" dirty="0"/>
          </a:p>
        </p:txBody>
      </p:sp>
      <p:sp>
        <p:nvSpPr>
          <p:cNvPr id="14" name="Text 12"/>
          <p:cNvSpPr/>
          <p:nvPr/>
        </p:nvSpPr>
        <p:spPr>
          <a:xfrm>
            <a:off x="4480560" y="3794760"/>
            <a:ext cx="3200400" cy="1645920"/>
          </a:xfrm>
          <a:prstGeom prst="rect">
            <a:avLst/>
          </a:prstGeom>
          <a:noFill/>
          <a:ln/>
        </p:spPr>
        <p:txBody>
          <a:bodyPr wrap="square" rtlCol="0" anchor="ctr"/>
          <a:lstStyle/>
          <a:p>
            <a:pPr indent="0" marL="0">
              <a:buNone/>
            </a:pPr>
            <a:r>
              <a:rPr lang="en-US" sz="1400" dirty="0">
                <a:solidFill>
                  <a:srgbClr val="0F172A"/>
                </a:solidFill>
                <a:latin typeface="Calibri" pitchFamily="34" charset="0"/>
                <a:ea typeface="Calibri" pitchFamily="34" charset="-122"/>
                <a:cs typeface="Calibri" pitchFamily="34" charset="-120"/>
              </a:rPr>
              <a:t>Leaders who digitize early look modern to parents — and ready for audits &amp; growth.</a:t>
            </a:r>
            <a:endParaRPr lang="en-US" sz="1400" dirty="0"/>
          </a:p>
        </p:txBody>
      </p:sp>
      <p:sp>
        <p:nvSpPr>
          <p:cNvPr id="15" name="Shape 13"/>
          <p:cNvSpPr/>
          <p:nvPr/>
        </p:nvSpPr>
        <p:spPr>
          <a:xfrm>
            <a:off x="8092440" y="2880360"/>
            <a:ext cx="3657600" cy="2926080"/>
          </a:xfrm>
          <a:prstGeom prst="roundRect">
            <a:avLst>
              <a:gd name="adj" fmla="val 3750"/>
            </a:avLst>
          </a:prstGeom>
          <a:solidFill>
            <a:srgbClr val="F1F5F9"/>
          </a:solidFill>
          <a:ln/>
        </p:spPr>
      </p:sp>
      <p:sp>
        <p:nvSpPr>
          <p:cNvPr id="16" name="Shape 14"/>
          <p:cNvSpPr/>
          <p:nvPr/>
        </p:nvSpPr>
        <p:spPr>
          <a:xfrm>
            <a:off x="8092440" y="2880360"/>
            <a:ext cx="3657600" cy="109728"/>
          </a:xfrm>
          <a:prstGeom prst="rect">
            <a:avLst/>
          </a:prstGeom>
          <a:solidFill>
            <a:srgbClr val="0F766E"/>
          </a:solidFill>
          <a:ln/>
        </p:spPr>
      </p:sp>
      <p:sp>
        <p:nvSpPr>
          <p:cNvPr id="17" name="Text 15"/>
          <p:cNvSpPr/>
          <p:nvPr/>
        </p:nvSpPr>
        <p:spPr>
          <a:xfrm>
            <a:off x="8321040" y="3200400"/>
            <a:ext cx="3200400" cy="457200"/>
          </a:xfrm>
          <a:prstGeom prst="rect">
            <a:avLst/>
          </a:prstGeom>
          <a:noFill/>
          <a:ln/>
        </p:spPr>
        <p:txBody>
          <a:bodyPr wrap="square" rtlCol="0" anchor="ctr"/>
          <a:lstStyle/>
          <a:p>
            <a:pPr indent="0" marL="0">
              <a:buNone/>
            </a:pPr>
            <a:r>
              <a:rPr lang="en-US" sz="1600" b="1" dirty="0">
                <a:solidFill>
                  <a:srgbClr val="115E59"/>
                </a:solidFill>
                <a:latin typeface="Calibri" pitchFamily="34" charset="0"/>
                <a:ea typeface="Calibri" pitchFamily="34" charset="-122"/>
                <a:cs typeface="Calibri" pitchFamily="34" charset="-120"/>
              </a:rPr>
              <a:t>For your brand</a:t>
            </a:r>
            <a:endParaRPr lang="en-US" sz="1600" dirty="0"/>
          </a:p>
        </p:txBody>
      </p:sp>
      <p:sp>
        <p:nvSpPr>
          <p:cNvPr id="18" name="Text 16"/>
          <p:cNvSpPr/>
          <p:nvPr/>
        </p:nvSpPr>
        <p:spPr>
          <a:xfrm>
            <a:off x="8321040" y="3794760"/>
            <a:ext cx="3200400" cy="1645920"/>
          </a:xfrm>
          <a:prstGeom prst="rect">
            <a:avLst/>
          </a:prstGeom>
          <a:noFill/>
          <a:ln/>
        </p:spPr>
        <p:txBody>
          <a:bodyPr wrap="square" rtlCol="0" anchor="ctr"/>
          <a:lstStyle/>
          <a:p>
            <a:pPr indent="0" marL="0">
              <a:buNone/>
            </a:pPr>
            <a:r>
              <a:rPr lang="en-US" sz="1400" dirty="0">
                <a:solidFill>
                  <a:srgbClr val="0F172A"/>
                </a:solidFill>
                <a:latin typeface="Calibri" pitchFamily="34" charset="0"/>
                <a:ea typeface="Calibri" pitchFamily="34" charset="-122"/>
                <a:cs typeface="Calibri" pitchFamily="34" charset="-120"/>
              </a:rPr>
              <a:t>A professional digital school is no longer optional; it is competitive advantage.</a:t>
            </a:r>
            <a:endParaRPr lang="en-US" sz="1400" dirty="0"/>
          </a:p>
        </p:txBody>
      </p:sp>
      <p:sp>
        <p:nvSpPr>
          <p:cNvPr id="19" name="Text 17"/>
          <p:cNvSpPr/>
          <p:nvPr/>
        </p:nvSpPr>
        <p:spPr>
          <a:xfrm>
            <a:off x="365760" y="6537960"/>
            <a:ext cx="9601200" cy="22860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MayaBela · Confidential · School leadership briefing</a:t>
            </a:r>
            <a:endParaRPr lang="en-US" sz="900" dirty="0"/>
          </a:p>
        </p:txBody>
      </p:sp>
      <p:sp>
        <p:nvSpPr>
          <p:cNvPr id="20" name="Text 18"/>
          <p:cNvSpPr/>
          <p:nvPr/>
        </p:nvSpPr>
        <p:spPr>
          <a:xfrm>
            <a:off x="10789920" y="6537960"/>
            <a:ext cx="914400" cy="22860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F766E"/>
          </a:solidFill>
          <a:ln/>
        </p:spPr>
      </p:sp>
      <p:sp>
        <p:nvSpPr>
          <p:cNvPr id="3" name="Text 1"/>
          <p:cNvSpPr/>
          <p:nvPr/>
        </p:nvSpPr>
        <p:spPr>
          <a:xfrm>
            <a:off x="411480" y="164592"/>
            <a:ext cx="11338560" cy="36576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problem is not “no software”</a:t>
            </a:r>
            <a:endParaRPr lang="en-US" sz="2200" dirty="0"/>
          </a:p>
        </p:txBody>
      </p:sp>
      <p:sp>
        <p:nvSpPr>
          <p:cNvPr id="4" name="Text 2"/>
          <p:cNvSpPr/>
          <p:nvPr/>
        </p:nvSpPr>
        <p:spPr>
          <a:xfrm>
            <a:off x="411480" y="530352"/>
            <a:ext cx="11338560" cy="292608"/>
          </a:xfrm>
          <a:prstGeom prst="rect">
            <a:avLst/>
          </a:prstGeom>
          <a:noFill/>
          <a:ln/>
        </p:spPr>
        <p:txBody>
          <a:bodyPr wrap="square" rtlCol="0" anchor="ctr"/>
          <a:lstStyle/>
          <a:p>
            <a:pPr indent="0" marL="0">
              <a:buNone/>
            </a:pPr>
            <a:r>
              <a:rPr lang="en-US" sz="1200" dirty="0">
                <a:solidFill>
                  <a:srgbClr val="CCFBF1"/>
                </a:solidFill>
                <a:latin typeface="Calibri" pitchFamily="34" charset="0"/>
                <a:ea typeface="Calibri" pitchFamily="34" charset="-122"/>
                <a:cs typeface="Calibri" pitchFamily="34" charset="-120"/>
              </a:rPr>
              <a:t>It is fragmented control of a living school</a:t>
            </a:r>
            <a:endParaRPr lang="en-US" sz="1200" dirty="0"/>
          </a:p>
        </p:txBody>
      </p:sp>
      <p:sp>
        <p:nvSpPr>
          <p:cNvPr id="5" name="Shape 3"/>
          <p:cNvSpPr/>
          <p:nvPr/>
        </p:nvSpPr>
        <p:spPr>
          <a:xfrm>
            <a:off x="365760" y="1188720"/>
            <a:ext cx="3703320" cy="2240280"/>
          </a:xfrm>
          <a:prstGeom prst="roundRect">
            <a:avLst>
              <a:gd name="adj" fmla="val 4082"/>
            </a:avLst>
          </a:prstGeom>
          <a:solidFill>
            <a:srgbClr val="FFFFFF"/>
          </a:solidFill>
          <a:ln w="12700">
            <a:solidFill>
              <a:srgbClr val="CBD5E1"/>
            </a:solidFill>
            <a:prstDash val="solid"/>
          </a:ln>
        </p:spPr>
      </p:sp>
      <p:sp>
        <p:nvSpPr>
          <p:cNvPr id="6" name="Text 4"/>
          <p:cNvSpPr/>
          <p:nvPr/>
        </p:nvSpPr>
        <p:spPr>
          <a:xfrm>
            <a:off x="594360" y="1508760"/>
            <a:ext cx="3246120" cy="411480"/>
          </a:xfrm>
          <a:prstGeom prst="rect">
            <a:avLst/>
          </a:prstGeom>
          <a:noFill/>
          <a:ln/>
        </p:spPr>
        <p:txBody>
          <a:bodyPr wrap="square" rtlCol="0" anchor="ctr"/>
          <a:lstStyle/>
          <a:p>
            <a:pPr indent="0" marL="0">
              <a:buNone/>
            </a:pPr>
            <a:r>
              <a:rPr lang="en-US" sz="1600" b="1" dirty="0">
                <a:solidFill>
                  <a:srgbClr val="0F766E"/>
                </a:solidFill>
                <a:latin typeface="Calibri" pitchFamily="34" charset="0"/>
                <a:ea typeface="Calibri" pitchFamily="34" charset="-122"/>
                <a:cs typeface="Calibri" pitchFamily="34" charset="-120"/>
              </a:rPr>
              <a:t>Many truths</a:t>
            </a:r>
            <a:endParaRPr lang="en-US" sz="1600" dirty="0"/>
          </a:p>
        </p:txBody>
      </p:sp>
      <p:sp>
        <p:nvSpPr>
          <p:cNvPr id="7" name="Text 5"/>
          <p:cNvSpPr/>
          <p:nvPr/>
        </p:nvSpPr>
        <p:spPr>
          <a:xfrm>
            <a:off x="594360" y="2057400"/>
            <a:ext cx="3246120" cy="109728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Excel files, paper registers, and WhatsApp groups — nobody shares one official record.</a:t>
            </a:r>
            <a:endParaRPr lang="en-US" sz="1300" dirty="0"/>
          </a:p>
        </p:txBody>
      </p:sp>
      <p:sp>
        <p:nvSpPr>
          <p:cNvPr id="8" name="Shape 6"/>
          <p:cNvSpPr/>
          <p:nvPr/>
        </p:nvSpPr>
        <p:spPr>
          <a:xfrm>
            <a:off x="4251960" y="1188720"/>
            <a:ext cx="3703320" cy="2240280"/>
          </a:xfrm>
          <a:prstGeom prst="roundRect">
            <a:avLst>
              <a:gd name="adj" fmla="val 4082"/>
            </a:avLst>
          </a:prstGeom>
          <a:solidFill>
            <a:srgbClr val="FFFFFF"/>
          </a:solidFill>
          <a:ln w="12700">
            <a:solidFill>
              <a:srgbClr val="CBD5E1"/>
            </a:solidFill>
            <a:prstDash val="solid"/>
          </a:ln>
        </p:spPr>
      </p:sp>
      <p:sp>
        <p:nvSpPr>
          <p:cNvPr id="9" name="Text 7"/>
          <p:cNvSpPr/>
          <p:nvPr/>
        </p:nvSpPr>
        <p:spPr>
          <a:xfrm>
            <a:off x="4480560" y="1508760"/>
            <a:ext cx="3246120" cy="411480"/>
          </a:xfrm>
          <a:prstGeom prst="rect">
            <a:avLst/>
          </a:prstGeom>
          <a:noFill/>
          <a:ln/>
        </p:spPr>
        <p:txBody>
          <a:bodyPr wrap="square" rtlCol="0" anchor="ctr"/>
          <a:lstStyle/>
          <a:p>
            <a:pPr indent="0" marL="0">
              <a:buNone/>
            </a:pPr>
            <a:r>
              <a:rPr lang="en-US" sz="1600" b="1" dirty="0">
                <a:solidFill>
                  <a:srgbClr val="0F766E"/>
                </a:solidFill>
                <a:latin typeface="Calibri" pitchFamily="34" charset="0"/>
                <a:ea typeface="Calibri" pitchFamily="34" charset="-122"/>
                <a:cs typeface="Calibri" pitchFamily="34" charset="-120"/>
              </a:rPr>
              <a:t>Owner blindness</a:t>
            </a:r>
            <a:endParaRPr lang="en-US" sz="1600" dirty="0"/>
          </a:p>
        </p:txBody>
      </p:sp>
      <p:sp>
        <p:nvSpPr>
          <p:cNvPr id="10" name="Text 8"/>
          <p:cNvSpPr/>
          <p:nvPr/>
        </p:nvSpPr>
        <p:spPr>
          <a:xfrm>
            <a:off x="4480560" y="2057400"/>
            <a:ext cx="3246120" cy="109728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You hear problems late: fee leakage, unpaid balances, weak attendance, grade disputes.</a:t>
            </a:r>
            <a:endParaRPr lang="en-US" sz="1300" dirty="0"/>
          </a:p>
        </p:txBody>
      </p:sp>
      <p:sp>
        <p:nvSpPr>
          <p:cNvPr id="11" name="Shape 9"/>
          <p:cNvSpPr/>
          <p:nvPr/>
        </p:nvSpPr>
        <p:spPr>
          <a:xfrm>
            <a:off x="8138160" y="1188720"/>
            <a:ext cx="3703320" cy="2240280"/>
          </a:xfrm>
          <a:prstGeom prst="roundRect">
            <a:avLst>
              <a:gd name="adj" fmla="val 4082"/>
            </a:avLst>
          </a:prstGeom>
          <a:solidFill>
            <a:srgbClr val="FFFFFF"/>
          </a:solidFill>
          <a:ln w="12700">
            <a:solidFill>
              <a:srgbClr val="CBD5E1"/>
            </a:solidFill>
            <a:prstDash val="solid"/>
          </a:ln>
        </p:spPr>
      </p:sp>
      <p:sp>
        <p:nvSpPr>
          <p:cNvPr id="12" name="Text 10"/>
          <p:cNvSpPr/>
          <p:nvPr/>
        </p:nvSpPr>
        <p:spPr>
          <a:xfrm>
            <a:off x="8366760" y="1508760"/>
            <a:ext cx="3246120" cy="411480"/>
          </a:xfrm>
          <a:prstGeom prst="rect">
            <a:avLst/>
          </a:prstGeom>
          <a:noFill/>
          <a:ln/>
        </p:spPr>
        <p:txBody>
          <a:bodyPr wrap="square" rtlCol="0" anchor="ctr"/>
          <a:lstStyle/>
          <a:p>
            <a:pPr indent="0" marL="0">
              <a:buNone/>
            </a:pPr>
            <a:r>
              <a:rPr lang="en-US" sz="1600" b="1" dirty="0">
                <a:solidFill>
                  <a:srgbClr val="0F766E"/>
                </a:solidFill>
                <a:latin typeface="Calibri" pitchFamily="34" charset="0"/>
                <a:ea typeface="Calibri" pitchFamily="34" charset="-122"/>
                <a:cs typeface="Calibri" pitchFamily="34" charset="-120"/>
              </a:rPr>
              <a:t>Weak governance</a:t>
            </a:r>
            <a:endParaRPr lang="en-US" sz="1600" dirty="0"/>
          </a:p>
        </p:txBody>
      </p:sp>
      <p:sp>
        <p:nvSpPr>
          <p:cNvPr id="13" name="Text 11"/>
          <p:cNvSpPr/>
          <p:nvPr/>
        </p:nvSpPr>
        <p:spPr>
          <a:xfrm>
            <a:off x="8366760" y="2057400"/>
            <a:ext cx="3246120" cy="109728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Teachers publish marks with no approval chain. Roles blur. Accountability suffers.</a:t>
            </a:r>
            <a:endParaRPr lang="en-US" sz="1300" dirty="0"/>
          </a:p>
        </p:txBody>
      </p:sp>
      <p:sp>
        <p:nvSpPr>
          <p:cNvPr id="14" name="Shape 12"/>
          <p:cNvSpPr/>
          <p:nvPr/>
        </p:nvSpPr>
        <p:spPr>
          <a:xfrm>
            <a:off x="365760" y="3657600"/>
            <a:ext cx="3703320" cy="2240280"/>
          </a:xfrm>
          <a:prstGeom prst="roundRect">
            <a:avLst>
              <a:gd name="adj" fmla="val 4082"/>
            </a:avLst>
          </a:prstGeom>
          <a:solidFill>
            <a:srgbClr val="FFFFFF"/>
          </a:solidFill>
          <a:ln w="12700">
            <a:solidFill>
              <a:srgbClr val="CBD5E1"/>
            </a:solidFill>
            <a:prstDash val="solid"/>
          </a:ln>
        </p:spPr>
      </p:sp>
      <p:sp>
        <p:nvSpPr>
          <p:cNvPr id="15" name="Text 13"/>
          <p:cNvSpPr/>
          <p:nvPr/>
        </p:nvSpPr>
        <p:spPr>
          <a:xfrm>
            <a:off x="594360" y="3977640"/>
            <a:ext cx="3246120" cy="411480"/>
          </a:xfrm>
          <a:prstGeom prst="rect">
            <a:avLst/>
          </a:prstGeom>
          <a:noFill/>
          <a:ln/>
        </p:spPr>
        <p:txBody>
          <a:bodyPr wrap="square" rtlCol="0" anchor="ctr"/>
          <a:lstStyle/>
          <a:p>
            <a:pPr indent="0" marL="0">
              <a:buNone/>
            </a:pPr>
            <a:r>
              <a:rPr lang="en-US" sz="1600" b="1" dirty="0">
                <a:solidFill>
                  <a:srgbClr val="0F766E"/>
                </a:solidFill>
                <a:latin typeface="Calibri" pitchFamily="34" charset="0"/>
                <a:ea typeface="Calibri" pitchFamily="34" charset="-122"/>
                <a:cs typeface="Calibri" pitchFamily="34" charset="-120"/>
              </a:rPr>
              <a:t>Parent trust gap</a:t>
            </a:r>
            <a:endParaRPr lang="en-US" sz="1600" dirty="0"/>
          </a:p>
        </p:txBody>
      </p:sp>
      <p:sp>
        <p:nvSpPr>
          <p:cNvPr id="16" name="Text 14"/>
          <p:cNvSpPr/>
          <p:nvPr/>
        </p:nvSpPr>
        <p:spPr>
          <a:xfrm>
            <a:off x="594360" y="4526280"/>
            <a:ext cx="3246120" cy="109728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Families want real-time clarity — results, presence, bus safety — not rumor chains.</a:t>
            </a:r>
            <a:endParaRPr lang="en-US" sz="1300" dirty="0"/>
          </a:p>
        </p:txBody>
      </p:sp>
      <p:sp>
        <p:nvSpPr>
          <p:cNvPr id="17" name="Shape 15"/>
          <p:cNvSpPr/>
          <p:nvPr/>
        </p:nvSpPr>
        <p:spPr>
          <a:xfrm>
            <a:off x="4251960" y="3657600"/>
            <a:ext cx="3703320" cy="2240280"/>
          </a:xfrm>
          <a:prstGeom prst="roundRect">
            <a:avLst>
              <a:gd name="adj" fmla="val 4082"/>
            </a:avLst>
          </a:prstGeom>
          <a:solidFill>
            <a:srgbClr val="FFFFFF"/>
          </a:solidFill>
          <a:ln w="12700">
            <a:solidFill>
              <a:srgbClr val="CBD5E1"/>
            </a:solidFill>
            <a:prstDash val="solid"/>
          </a:ln>
        </p:spPr>
      </p:sp>
      <p:sp>
        <p:nvSpPr>
          <p:cNvPr id="18" name="Text 16"/>
          <p:cNvSpPr/>
          <p:nvPr/>
        </p:nvSpPr>
        <p:spPr>
          <a:xfrm>
            <a:off x="4480560" y="3977640"/>
            <a:ext cx="3246120" cy="411480"/>
          </a:xfrm>
          <a:prstGeom prst="rect">
            <a:avLst/>
          </a:prstGeom>
          <a:noFill/>
          <a:ln/>
        </p:spPr>
        <p:txBody>
          <a:bodyPr wrap="square" rtlCol="0" anchor="ctr"/>
          <a:lstStyle/>
          <a:p>
            <a:pPr indent="0" marL="0">
              <a:buNone/>
            </a:pPr>
            <a:r>
              <a:rPr lang="en-US" sz="1600" b="1" dirty="0">
                <a:solidFill>
                  <a:srgbClr val="0F766E"/>
                </a:solidFill>
                <a:latin typeface="Calibri" pitchFamily="34" charset="0"/>
                <a:ea typeface="Calibri" pitchFamily="34" charset="-122"/>
                <a:cs typeface="Calibri" pitchFamily="34" charset="-120"/>
              </a:rPr>
              <a:t>Ops beyond academics</a:t>
            </a:r>
            <a:endParaRPr lang="en-US" sz="1600" dirty="0"/>
          </a:p>
        </p:txBody>
      </p:sp>
      <p:sp>
        <p:nvSpPr>
          <p:cNvPr id="19" name="Text 17"/>
          <p:cNvSpPr/>
          <p:nvPr/>
        </p:nvSpPr>
        <p:spPr>
          <a:xfrm>
            <a:off x="4480560" y="4526280"/>
            <a:ext cx="3246120" cy="109728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Transport, inventory, procurement, multi-campus — usually left outside “school apps”.</a:t>
            </a:r>
            <a:endParaRPr lang="en-US" sz="1300" dirty="0"/>
          </a:p>
        </p:txBody>
      </p:sp>
      <p:sp>
        <p:nvSpPr>
          <p:cNvPr id="20" name="Shape 18"/>
          <p:cNvSpPr/>
          <p:nvPr/>
        </p:nvSpPr>
        <p:spPr>
          <a:xfrm>
            <a:off x="8138160" y="3657600"/>
            <a:ext cx="3703320" cy="2240280"/>
          </a:xfrm>
          <a:prstGeom prst="roundRect">
            <a:avLst>
              <a:gd name="adj" fmla="val 4082"/>
            </a:avLst>
          </a:prstGeom>
          <a:solidFill>
            <a:srgbClr val="FFFFFF"/>
          </a:solidFill>
          <a:ln w="12700">
            <a:solidFill>
              <a:srgbClr val="CBD5E1"/>
            </a:solidFill>
            <a:prstDash val="solid"/>
          </a:ln>
        </p:spPr>
      </p:sp>
      <p:sp>
        <p:nvSpPr>
          <p:cNvPr id="21" name="Text 19"/>
          <p:cNvSpPr/>
          <p:nvPr/>
        </p:nvSpPr>
        <p:spPr>
          <a:xfrm>
            <a:off x="8366760" y="3977640"/>
            <a:ext cx="3246120" cy="411480"/>
          </a:xfrm>
          <a:prstGeom prst="rect">
            <a:avLst/>
          </a:prstGeom>
          <a:noFill/>
          <a:ln/>
        </p:spPr>
        <p:txBody>
          <a:bodyPr wrap="square" rtlCol="0" anchor="ctr"/>
          <a:lstStyle/>
          <a:p>
            <a:pPr indent="0" marL="0">
              <a:buNone/>
            </a:pPr>
            <a:r>
              <a:rPr lang="en-US" sz="1600" b="1" dirty="0">
                <a:solidFill>
                  <a:srgbClr val="0F766E"/>
                </a:solidFill>
                <a:latin typeface="Calibri" pitchFamily="34" charset="0"/>
                <a:ea typeface="Calibri" pitchFamily="34" charset="-122"/>
                <a:cs typeface="Calibri" pitchFamily="34" charset="-120"/>
              </a:rPr>
              <a:t>Digital image lag</a:t>
            </a:r>
            <a:endParaRPr lang="en-US" sz="1600" dirty="0"/>
          </a:p>
        </p:txBody>
      </p:sp>
      <p:sp>
        <p:nvSpPr>
          <p:cNvPr id="22" name="Text 20"/>
          <p:cNvSpPr/>
          <p:nvPr/>
        </p:nvSpPr>
        <p:spPr>
          <a:xfrm>
            <a:off x="8366760" y="4526280"/>
            <a:ext cx="3246120" cy="109728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Competitors look modern. Your school still runs like 2015 — parents notice.</a:t>
            </a:r>
            <a:endParaRPr lang="en-US" sz="1300" dirty="0"/>
          </a:p>
        </p:txBody>
      </p:sp>
      <p:sp>
        <p:nvSpPr>
          <p:cNvPr id="23" name="Text 21"/>
          <p:cNvSpPr/>
          <p:nvPr/>
        </p:nvSpPr>
        <p:spPr>
          <a:xfrm>
            <a:off x="365760" y="6537960"/>
            <a:ext cx="9601200" cy="22860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MayaBela · Confidential · School leadership briefing</a:t>
            </a:r>
            <a:endParaRPr lang="en-US" sz="900" dirty="0"/>
          </a:p>
        </p:txBody>
      </p:sp>
      <p:sp>
        <p:nvSpPr>
          <p:cNvPr id="24" name="Text 22"/>
          <p:cNvSpPr/>
          <p:nvPr/>
        </p:nvSpPr>
        <p:spPr>
          <a:xfrm>
            <a:off x="10789920" y="6537960"/>
            <a:ext cx="914400" cy="22860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F766E"/>
          </a:solidFill>
          <a:ln/>
        </p:spPr>
      </p:sp>
      <p:sp>
        <p:nvSpPr>
          <p:cNvPr id="3" name="Text 1"/>
          <p:cNvSpPr/>
          <p:nvPr/>
        </p:nvSpPr>
        <p:spPr>
          <a:xfrm>
            <a:off x="411480" y="164592"/>
            <a:ext cx="11338560" cy="36576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What we compared (market research)</a:t>
            </a:r>
            <a:endParaRPr lang="en-US" sz="2200" dirty="0"/>
          </a:p>
        </p:txBody>
      </p:sp>
      <p:sp>
        <p:nvSpPr>
          <p:cNvPr id="4" name="Text 2"/>
          <p:cNvSpPr/>
          <p:nvPr/>
        </p:nvSpPr>
        <p:spPr>
          <a:xfrm>
            <a:off x="411480" y="530352"/>
            <a:ext cx="11338560" cy="292608"/>
          </a:xfrm>
          <a:prstGeom prst="rect">
            <a:avLst/>
          </a:prstGeom>
          <a:noFill/>
          <a:ln/>
        </p:spPr>
        <p:txBody>
          <a:bodyPr wrap="square" rtlCol="0" anchor="ctr"/>
          <a:lstStyle/>
          <a:p>
            <a:pPr indent="0" marL="0">
              <a:buNone/>
            </a:pPr>
            <a:r>
              <a:rPr lang="en-US" sz="1200" dirty="0">
                <a:solidFill>
                  <a:srgbClr val="CCFBF1"/>
                </a:solidFill>
                <a:latin typeface="Calibri" pitchFamily="34" charset="0"/>
                <a:ea typeface="Calibri" pitchFamily="34" charset="-122"/>
                <a:cs typeface="Calibri" pitchFamily="34" charset="-120"/>
              </a:rPr>
              <a:t>Local Ethiopian school platforms + common global SIS patterns</a:t>
            </a:r>
            <a:endParaRPr lang="en-US" sz="1200" dirty="0"/>
          </a:p>
        </p:txBody>
      </p:sp>
      <p:sp>
        <p:nvSpPr>
          <p:cNvPr id="5" name="Text 3"/>
          <p:cNvSpPr/>
          <p:nvPr/>
        </p:nvSpPr>
        <p:spPr>
          <a:xfrm>
            <a:off x="457200" y="1143000"/>
            <a:ext cx="11247120" cy="822960"/>
          </a:xfrm>
          <a:prstGeom prst="rect">
            <a:avLst/>
          </a:prstGeom>
          <a:noFill/>
          <a:ln/>
        </p:spPr>
        <p:txBody>
          <a:bodyPr wrap="square" rtlCol="0" anchor="ctr"/>
          <a:lstStyle/>
          <a:p>
            <a:pPr indent="0" marL="0">
              <a:buNone/>
            </a:pPr>
            <a:r>
              <a:rPr lang="en-US" sz="1400" dirty="0">
                <a:solidFill>
                  <a:srgbClr val="0F172A"/>
                </a:solidFill>
                <a:latin typeface="Calibri" pitchFamily="34" charset="0"/>
                <a:ea typeface="Calibri" pitchFamily="34" charset="-122"/>
                <a:cs typeface="Calibri" pitchFamily="34" charset="-120"/>
              </a:rPr>
              <a:t>We reviewed publicly marketed platforms serving Ethiopian schools (including eSchool.et, MyEdu.et, Fidel.et, Dream Tech SMS) and typical international SIS patterns. Most sell the same core: students · fees · attendance · exams · parent app.</a:t>
            </a:r>
            <a:endParaRPr lang="en-US" sz="1400" dirty="0"/>
          </a:p>
        </p:txBody>
      </p:sp>
      <p:sp>
        <p:nvSpPr>
          <p:cNvPr id="6" name="Shape 4"/>
          <p:cNvSpPr/>
          <p:nvPr/>
        </p:nvSpPr>
        <p:spPr>
          <a:xfrm>
            <a:off x="365760" y="2148840"/>
            <a:ext cx="3703320" cy="3840480"/>
          </a:xfrm>
          <a:prstGeom prst="roundRect">
            <a:avLst>
              <a:gd name="adj" fmla="val 2963"/>
            </a:avLst>
          </a:prstGeom>
          <a:solidFill>
            <a:srgbClr val="F1F5F9"/>
          </a:solidFill>
          <a:ln/>
        </p:spPr>
      </p:sp>
      <p:sp>
        <p:nvSpPr>
          <p:cNvPr id="7" name="Text 5"/>
          <p:cNvSpPr/>
          <p:nvPr/>
        </p:nvSpPr>
        <p:spPr>
          <a:xfrm>
            <a:off x="594360" y="2377440"/>
            <a:ext cx="3246120" cy="502920"/>
          </a:xfrm>
          <a:prstGeom prst="rect">
            <a:avLst/>
          </a:prstGeom>
          <a:noFill/>
          <a:ln/>
        </p:spPr>
        <p:txBody>
          <a:bodyPr wrap="square" rtlCol="0" anchor="ctr"/>
          <a:lstStyle/>
          <a:p>
            <a:pPr indent="0" marL="0">
              <a:buNone/>
            </a:pPr>
            <a:r>
              <a:rPr lang="en-US" sz="1600" b="1" dirty="0">
                <a:solidFill>
                  <a:srgbClr val="115E59"/>
                </a:solidFill>
                <a:latin typeface="Calibri" pitchFamily="34" charset="0"/>
                <a:ea typeface="Calibri" pitchFamily="34" charset="-122"/>
                <a:cs typeface="Calibri" pitchFamily="34" charset="-120"/>
              </a:rPr>
              <a:t>Manual stack</a:t>
            </a:r>
            <a:endParaRPr lang="en-US" sz="1600" dirty="0"/>
          </a:p>
        </p:txBody>
      </p:sp>
      <p:sp>
        <p:nvSpPr>
          <p:cNvPr id="8" name="Text 6"/>
          <p:cNvSpPr/>
          <p:nvPr/>
        </p:nvSpPr>
        <p:spPr>
          <a:xfrm>
            <a:off x="594360" y="3063240"/>
            <a:ext cx="3246120" cy="2651760"/>
          </a:xfrm>
          <a:prstGeom prst="rect">
            <a:avLst/>
          </a:prstGeom>
          <a:noFill/>
          <a:ln/>
        </p:spPr>
        <p:txBody>
          <a:bodyPr wrap="square" rtlCol="0" anchor="ctr"/>
          <a:lstStyle/>
          <a:p>
            <a:pPr indent="0" marL="0">
              <a:buNone/>
            </a:pPr>
            <a:r>
              <a:rPr lang="en-US" sz="1400" dirty="0">
                <a:solidFill>
                  <a:srgbClr val="0F172A"/>
                </a:solidFill>
                <a:latin typeface="Calibri" pitchFamily="34" charset="0"/>
                <a:ea typeface="Calibri" pitchFamily="34" charset="-122"/>
                <a:cs typeface="Calibri" pitchFamily="34" charset="-120"/>
              </a:rPr>
              <a:t>Paper + Excel + WhatsApp</a:t>
            </a:r>
            <a:endParaRPr lang="en-US" sz="1400" dirty="0"/>
          </a:p>
          <a:p>
            <a:pPr indent="0" marL="0">
              <a:buNone/>
            </a:pPr>
            <a:r>
              <a:rPr lang="en-US" sz="1400" dirty="0">
                <a:solidFill>
                  <a:srgbClr val="0F172A"/>
                </a:solidFill>
                <a:latin typeface="Calibri" pitchFamily="34" charset="0"/>
                <a:ea typeface="Calibri" pitchFamily="34" charset="-122"/>
                <a:cs typeface="Calibri" pitchFamily="34" charset="-120"/>
              </a:rPr>
              <a:t>Cheap to start.</a:t>
            </a:r>
            <a:endParaRPr lang="en-US" sz="1400" dirty="0"/>
          </a:p>
          <a:p>
            <a:pPr indent="0" marL="0">
              <a:buNone/>
            </a:pPr>
            <a:r>
              <a:rPr lang="en-US" sz="1400" dirty="0">
                <a:solidFill>
                  <a:srgbClr val="0F172A"/>
                </a:solidFill>
                <a:latin typeface="Calibri" pitchFamily="34" charset="0"/>
                <a:ea typeface="Calibri" pitchFamily="34" charset="-122"/>
                <a:cs typeface="Calibri" pitchFamily="34" charset="-120"/>
              </a:rPr>
              <a:t>Breaks at scale.</a:t>
            </a:r>
            <a:endParaRPr lang="en-US" sz="1400" dirty="0"/>
          </a:p>
          <a:p>
            <a:pPr indent="0" marL="0">
              <a:buNone/>
            </a:pPr>
            <a:r>
              <a:rPr lang="en-US" sz="1400" dirty="0">
                <a:solidFill>
                  <a:srgbClr val="0F172A"/>
                </a:solidFill>
                <a:latin typeface="Calibri" pitchFamily="34" charset="0"/>
                <a:ea typeface="Calibri" pitchFamily="34" charset="-122"/>
                <a:cs typeface="Calibri" pitchFamily="34" charset="-120"/>
              </a:rPr>
              <a:t>No audit trail.</a:t>
            </a:r>
            <a:endParaRPr lang="en-US" sz="1400" dirty="0"/>
          </a:p>
        </p:txBody>
      </p:sp>
      <p:sp>
        <p:nvSpPr>
          <p:cNvPr id="9" name="Shape 7"/>
          <p:cNvSpPr/>
          <p:nvPr/>
        </p:nvSpPr>
        <p:spPr>
          <a:xfrm>
            <a:off x="4251960" y="2148840"/>
            <a:ext cx="3703320" cy="3840480"/>
          </a:xfrm>
          <a:prstGeom prst="roundRect">
            <a:avLst>
              <a:gd name="adj" fmla="val 2963"/>
            </a:avLst>
          </a:prstGeom>
          <a:solidFill>
            <a:srgbClr val="F1F5F9"/>
          </a:solidFill>
          <a:ln/>
        </p:spPr>
      </p:sp>
      <p:sp>
        <p:nvSpPr>
          <p:cNvPr id="10" name="Text 8"/>
          <p:cNvSpPr/>
          <p:nvPr/>
        </p:nvSpPr>
        <p:spPr>
          <a:xfrm>
            <a:off x="4480560" y="2377440"/>
            <a:ext cx="3246120" cy="502920"/>
          </a:xfrm>
          <a:prstGeom prst="rect">
            <a:avLst/>
          </a:prstGeom>
          <a:noFill/>
          <a:ln/>
        </p:spPr>
        <p:txBody>
          <a:bodyPr wrap="square" rtlCol="0" anchor="ctr"/>
          <a:lstStyle/>
          <a:p>
            <a:pPr indent="0" marL="0">
              <a:buNone/>
            </a:pPr>
            <a:r>
              <a:rPr lang="en-US" sz="1600" b="1" dirty="0">
                <a:solidFill>
                  <a:srgbClr val="115E59"/>
                </a:solidFill>
                <a:latin typeface="Calibri" pitchFamily="34" charset="0"/>
                <a:ea typeface="Calibri" pitchFamily="34" charset="-122"/>
                <a:cs typeface="Calibri" pitchFamily="34" charset="-120"/>
              </a:rPr>
              <a:t>Typical school SMS</a:t>
            </a:r>
            <a:endParaRPr lang="en-US" sz="1600" dirty="0"/>
          </a:p>
        </p:txBody>
      </p:sp>
      <p:sp>
        <p:nvSpPr>
          <p:cNvPr id="11" name="Text 9"/>
          <p:cNvSpPr/>
          <p:nvPr/>
        </p:nvSpPr>
        <p:spPr>
          <a:xfrm>
            <a:off x="4480560" y="3063240"/>
            <a:ext cx="3246120" cy="2651760"/>
          </a:xfrm>
          <a:prstGeom prst="rect">
            <a:avLst/>
          </a:prstGeom>
          <a:noFill/>
          <a:ln/>
        </p:spPr>
        <p:txBody>
          <a:bodyPr wrap="square" rtlCol="0" anchor="ctr"/>
          <a:lstStyle/>
          <a:p>
            <a:pPr indent="0" marL="0">
              <a:buNone/>
            </a:pPr>
            <a:r>
              <a:rPr lang="en-US" sz="1400" dirty="0">
                <a:solidFill>
                  <a:srgbClr val="0F172A"/>
                </a:solidFill>
                <a:latin typeface="Calibri" pitchFamily="34" charset="0"/>
                <a:ea typeface="Calibri" pitchFamily="34" charset="-122"/>
                <a:cs typeface="Calibri" pitchFamily="34" charset="-120"/>
              </a:rPr>
              <a:t>Cloud records + fees + portals.</a:t>
            </a:r>
            <a:endParaRPr lang="en-US" sz="1400" dirty="0"/>
          </a:p>
          <a:p>
            <a:pPr indent="0" marL="0">
              <a:buNone/>
            </a:pPr>
            <a:r>
              <a:rPr lang="en-US" sz="1400" dirty="0">
                <a:solidFill>
                  <a:srgbClr val="0F172A"/>
                </a:solidFill>
                <a:latin typeface="Calibri" pitchFamily="34" charset="0"/>
                <a:ea typeface="Calibri" pitchFamily="34" charset="-122"/>
                <a:cs typeface="Calibri" pitchFamily="34" charset="-120"/>
              </a:rPr>
              <a:t>Good admin digitization.</a:t>
            </a:r>
            <a:endParaRPr lang="en-US" sz="1400" dirty="0"/>
          </a:p>
          <a:p>
            <a:pPr indent="0" marL="0">
              <a:buNone/>
            </a:pPr>
            <a:r>
              <a:rPr lang="en-US" sz="1400" dirty="0">
                <a:solidFill>
                  <a:srgbClr val="0F172A"/>
                </a:solidFill>
                <a:latin typeface="Calibri" pitchFamily="34" charset="0"/>
                <a:ea typeface="Calibri" pitchFamily="34" charset="-122"/>
                <a:cs typeface="Calibri" pitchFamily="34" charset="-120"/>
              </a:rPr>
              <a:t>Often thin on leadership governance, live transport trust, and stock/procurement.</a:t>
            </a:r>
            <a:endParaRPr lang="en-US" sz="1400" dirty="0"/>
          </a:p>
        </p:txBody>
      </p:sp>
      <p:sp>
        <p:nvSpPr>
          <p:cNvPr id="12" name="Shape 10"/>
          <p:cNvSpPr/>
          <p:nvPr/>
        </p:nvSpPr>
        <p:spPr>
          <a:xfrm>
            <a:off x="8138160" y="2148840"/>
            <a:ext cx="3703320" cy="3840480"/>
          </a:xfrm>
          <a:prstGeom prst="roundRect">
            <a:avLst>
              <a:gd name="adj" fmla="val 2963"/>
            </a:avLst>
          </a:prstGeom>
          <a:solidFill>
            <a:srgbClr val="CCFBF1"/>
          </a:solidFill>
          <a:ln/>
        </p:spPr>
      </p:sp>
      <p:sp>
        <p:nvSpPr>
          <p:cNvPr id="13" name="Text 11"/>
          <p:cNvSpPr/>
          <p:nvPr/>
        </p:nvSpPr>
        <p:spPr>
          <a:xfrm>
            <a:off x="8366760" y="2377440"/>
            <a:ext cx="3246120" cy="502920"/>
          </a:xfrm>
          <a:prstGeom prst="rect">
            <a:avLst/>
          </a:prstGeom>
          <a:noFill/>
          <a:ln/>
        </p:spPr>
        <p:txBody>
          <a:bodyPr wrap="square" rtlCol="0" anchor="ctr"/>
          <a:lstStyle/>
          <a:p>
            <a:pPr indent="0" marL="0">
              <a:buNone/>
            </a:pPr>
            <a:r>
              <a:rPr lang="en-US" sz="1600" b="1" dirty="0">
                <a:solidFill>
                  <a:srgbClr val="115E59"/>
                </a:solidFill>
                <a:latin typeface="Calibri" pitchFamily="34" charset="0"/>
                <a:ea typeface="Calibri" pitchFamily="34" charset="-122"/>
                <a:cs typeface="Calibri" pitchFamily="34" charset="-120"/>
              </a:rPr>
              <a:t>MayaBela position</a:t>
            </a:r>
            <a:endParaRPr lang="en-US" sz="1600" dirty="0"/>
          </a:p>
        </p:txBody>
      </p:sp>
      <p:sp>
        <p:nvSpPr>
          <p:cNvPr id="14" name="Text 12"/>
          <p:cNvSpPr/>
          <p:nvPr/>
        </p:nvSpPr>
        <p:spPr>
          <a:xfrm>
            <a:off x="8366760" y="3063240"/>
            <a:ext cx="3246120" cy="2651760"/>
          </a:xfrm>
          <a:prstGeom prst="rect">
            <a:avLst/>
          </a:prstGeom>
          <a:noFill/>
          <a:ln/>
        </p:spPr>
        <p:txBody>
          <a:bodyPr wrap="square" rtlCol="0" anchor="ctr"/>
          <a:lstStyle/>
          <a:p>
            <a:pPr indent="0" marL="0">
              <a:buNone/>
            </a:pPr>
            <a:r>
              <a:rPr lang="en-US" sz="1400" dirty="0">
                <a:solidFill>
                  <a:srgbClr val="0F172A"/>
                </a:solidFill>
                <a:latin typeface="Calibri" pitchFamily="34" charset="0"/>
                <a:ea typeface="Calibri" pitchFamily="34" charset="-122"/>
                <a:cs typeface="Calibri" pitchFamily="34" charset="-120"/>
              </a:rPr>
              <a:t>Full school operating system:</a:t>
            </a:r>
            <a:endParaRPr lang="en-US" sz="1400" dirty="0"/>
          </a:p>
          <a:p>
            <a:pPr indent="0" marL="0">
              <a:buNone/>
            </a:pPr>
            <a:r>
              <a:rPr lang="en-US" sz="1400" dirty="0">
                <a:solidFill>
                  <a:srgbClr val="0F172A"/>
                </a:solidFill>
                <a:latin typeface="Calibri" pitchFamily="34" charset="0"/>
                <a:ea typeface="Calibri" pitchFamily="34" charset="-122"/>
                <a:cs typeface="Calibri" pitchFamily="34" charset="-120"/>
              </a:rPr>
              <a:t>academics + staff authority matrix + parent trust + transport + inventory — built for Ethiopian private-school reality.</a:t>
            </a:r>
            <a:endParaRPr lang="en-US" sz="1400" dirty="0"/>
          </a:p>
        </p:txBody>
      </p:sp>
      <p:sp>
        <p:nvSpPr>
          <p:cNvPr id="15" name="Text 13"/>
          <p:cNvSpPr/>
          <p:nvPr/>
        </p:nvSpPr>
        <p:spPr>
          <a:xfrm>
            <a:off x="365760" y="6537960"/>
            <a:ext cx="9601200" cy="22860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MayaBela · Confidential · School leadership briefing</a:t>
            </a:r>
            <a:endParaRPr lang="en-US" sz="900" dirty="0"/>
          </a:p>
        </p:txBody>
      </p:sp>
      <p:sp>
        <p:nvSpPr>
          <p:cNvPr id="16" name="Text 14"/>
          <p:cNvSpPr/>
          <p:nvPr/>
        </p:nvSpPr>
        <p:spPr>
          <a:xfrm>
            <a:off x="10789920" y="6537960"/>
            <a:ext cx="914400" cy="22860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F766E"/>
          </a:solidFill>
          <a:ln/>
        </p:spPr>
      </p:sp>
      <p:sp>
        <p:nvSpPr>
          <p:cNvPr id="3" name="Text 1"/>
          <p:cNvSpPr/>
          <p:nvPr/>
        </p:nvSpPr>
        <p:spPr>
          <a:xfrm>
            <a:off x="411480" y="164592"/>
            <a:ext cx="11338560" cy="36576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Difference that matters to owners</a:t>
            </a:r>
            <a:endParaRPr lang="en-US" sz="2200" dirty="0"/>
          </a:p>
        </p:txBody>
      </p:sp>
      <p:sp>
        <p:nvSpPr>
          <p:cNvPr id="4" name="Text 2"/>
          <p:cNvSpPr/>
          <p:nvPr/>
        </p:nvSpPr>
        <p:spPr>
          <a:xfrm>
            <a:off x="411480" y="530352"/>
            <a:ext cx="11338560" cy="292608"/>
          </a:xfrm>
          <a:prstGeom prst="rect">
            <a:avLst/>
          </a:prstGeom>
          <a:noFill/>
          <a:ln/>
        </p:spPr>
        <p:txBody>
          <a:bodyPr wrap="square" rtlCol="0" anchor="ctr"/>
          <a:lstStyle/>
          <a:p>
            <a:pPr indent="0" marL="0">
              <a:buNone/>
            </a:pPr>
            <a:r>
              <a:rPr lang="en-US" sz="1200" dirty="0">
                <a:solidFill>
                  <a:srgbClr val="CCFBF1"/>
                </a:solidFill>
                <a:latin typeface="Calibri" pitchFamily="34" charset="0"/>
                <a:ea typeface="Calibri" pitchFamily="34" charset="-122"/>
                <a:cs typeface="Calibri" pitchFamily="34" charset="-120"/>
              </a:rPr>
              <a:t>Same “modules” on brochures — different depth in daily control</a:t>
            </a:r>
            <a:endParaRPr lang="en-US" sz="1200" dirty="0"/>
          </a:p>
        </p:txBody>
      </p:sp>
      <p:sp>
        <p:nvSpPr>
          <p:cNvPr id="5" name="Shape 3"/>
          <p:cNvSpPr/>
          <p:nvPr/>
        </p:nvSpPr>
        <p:spPr>
          <a:xfrm>
            <a:off x="365760" y="1097280"/>
            <a:ext cx="3749040" cy="438912"/>
          </a:xfrm>
          <a:prstGeom prst="rect">
            <a:avLst/>
          </a:prstGeom>
          <a:solidFill>
            <a:srgbClr val="0F766E"/>
          </a:solidFill>
          <a:ln/>
        </p:spPr>
      </p:sp>
      <p:sp>
        <p:nvSpPr>
          <p:cNvPr id="6" name="Text 4"/>
          <p:cNvSpPr/>
          <p:nvPr/>
        </p:nvSpPr>
        <p:spPr>
          <a:xfrm>
            <a:off x="365760" y="1170432"/>
            <a:ext cx="3749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Capability</a:t>
            </a:r>
            <a:endParaRPr lang="en-US" sz="1300" dirty="0"/>
          </a:p>
        </p:txBody>
      </p:sp>
      <p:sp>
        <p:nvSpPr>
          <p:cNvPr id="7" name="Shape 5"/>
          <p:cNvSpPr/>
          <p:nvPr/>
        </p:nvSpPr>
        <p:spPr>
          <a:xfrm>
            <a:off x="4206240" y="1097280"/>
            <a:ext cx="3749040" cy="438912"/>
          </a:xfrm>
          <a:prstGeom prst="rect">
            <a:avLst/>
          </a:prstGeom>
          <a:solidFill>
            <a:srgbClr val="0F766E"/>
          </a:solidFill>
          <a:ln/>
        </p:spPr>
      </p:sp>
      <p:sp>
        <p:nvSpPr>
          <p:cNvPr id="8" name="Text 6"/>
          <p:cNvSpPr/>
          <p:nvPr/>
        </p:nvSpPr>
        <p:spPr>
          <a:xfrm>
            <a:off x="4206240" y="1170432"/>
            <a:ext cx="3749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Typical SMS</a:t>
            </a:r>
            <a:endParaRPr lang="en-US" sz="1300" dirty="0"/>
          </a:p>
        </p:txBody>
      </p:sp>
      <p:sp>
        <p:nvSpPr>
          <p:cNvPr id="9" name="Shape 7"/>
          <p:cNvSpPr/>
          <p:nvPr/>
        </p:nvSpPr>
        <p:spPr>
          <a:xfrm>
            <a:off x="8046720" y="1097280"/>
            <a:ext cx="3749040" cy="438912"/>
          </a:xfrm>
          <a:prstGeom prst="rect">
            <a:avLst/>
          </a:prstGeom>
          <a:solidFill>
            <a:srgbClr val="0F766E"/>
          </a:solidFill>
          <a:ln/>
        </p:spPr>
      </p:sp>
      <p:sp>
        <p:nvSpPr>
          <p:cNvPr id="10" name="Text 8"/>
          <p:cNvSpPr/>
          <p:nvPr/>
        </p:nvSpPr>
        <p:spPr>
          <a:xfrm>
            <a:off x="8046720" y="1170432"/>
            <a:ext cx="3749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MayaBela</a:t>
            </a:r>
            <a:endParaRPr lang="en-US" sz="1300" dirty="0"/>
          </a:p>
        </p:txBody>
      </p:sp>
      <p:sp>
        <p:nvSpPr>
          <p:cNvPr id="11" name="Shape 9"/>
          <p:cNvSpPr/>
          <p:nvPr/>
        </p:nvSpPr>
        <p:spPr>
          <a:xfrm>
            <a:off x="365760" y="1536192"/>
            <a:ext cx="3749040" cy="502920"/>
          </a:xfrm>
          <a:prstGeom prst="rect">
            <a:avLst/>
          </a:prstGeom>
          <a:solidFill>
            <a:srgbClr val="F1F5F9"/>
          </a:solidFill>
          <a:ln/>
        </p:spPr>
      </p:sp>
      <p:sp>
        <p:nvSpPr>
          <p:cNvPr id="12" name="Text 10"/>
          <p:cNvSpPr/>
          <p:nvPr/>
        </p:nvSpPr>
        <p:spPr>
          <a:xfrm>
            <a:off x="457200" y="1645920"/>
            <a:ext cx="3566160" cy="320040"/>
          </a:xfrm>
          <a:prstGeom prst="rect">
            <a:avLst/>
          </a:prstGeom>
          <a:noFill/>
          <a:ln/>
        </p:spPr>
        <p:txBody>
          <a:bodyPr wrap="square" rtlCol="0" anchor="ctr"/>
          <a:lstStyle/>
          <a:p>
            <a:pPr algn="l" indent="0" marL="0">
              <a:buNone/>
            </a:pPr>
            <a:r>
              <a:rPr lang="en-US" sz="1200" b="1" dirty="0">
                <a:solidFill>
                  <a:srgbClr val="0F172A"/>
                </a:solidFill>
                <a:latin typeface="Calibri" pitchFamily="34" charset="0"/>
                <a:ea typeface="Calibri" pitchFamily="34" charset="-122"/>
                <a:cs typeface="Calibri" pitchFamily="34" charset="-120"/>
              </a:rPr>
              <a:t>Student / fee / attendance / exams</a:t>
            </a:r>
            <a:endParaRPr lang="en-US" sz="1200" dirty="0"/>
          </a:p>
        </p:txBody>
      </p:sp>
      <p:sp>
        <p:nvSpPr>
          <p:cNvPr id="13" name="Shape 11"/>
          <p:cNvSpPr/>
          <p:nvPr/>
        </p:nvSpPr>
        <p:spPr>
          <a:xfrm>
            <a:off x="4206240" y="1536192"/>
            <a:ext cx="3749040" cy="502920"/>
          </a:xfrm>
          <a:prstGeom prst="rect">
            <a:avLst/>
          </a:prstGeom>
          <a:solidFill>
            <a:srgbClr val="F1F5F9"/>
          </a:solidFill>
          <a:ln/>
        </p:spPr>
      </p:sp>
      <p:sp>
        <p:nvSpPr>
          <p:cNvPr id="14" name="Text 12"/>
          <p:cNvSpPr/>
          <p:nvPr/>
        </p:nvSpPr>
        <p:spPr>
          <a:xfrm>
            <a:off x="4297680" y="1645920"/>
            <a:ext cx="3566160" cy="320040"/>
          </a:xfrm>
          <a:prstGeom prst="rect">
            <a:avLst/>
          </a:prstGeom>
          <a:noFill/>
          <a:ln/>
        </p:spPr>
        <p:txBody>
          <a:bodyPr wrap="square" rtlCol="0" anchor="ctr"/>
          <a:lstStyle/>
          <a:p>
            <a:pPr algn="ctr" indent="0" marL="0">
              <a:buNone/>
            </a:pPr>
            <a:r>
              <a:rPr lang="en-US" sz="1200" dirty="0">
                <a:solidFill>
                  <a:srgbClr val="0F172A"/>
                </a:solidFill>
                <a:latin typeface="Calibri" pitchFamily="34" charset="0"/>
                <a:ea typeface="Calibri" pitchFamily="34" charset="-122"/>
                <a:cs typeface="Calibri" pitchFamily="34" charset="-120"/>
              </a:rPr>
              <a:t>Strong</a:t>
            </a:r>
            <a:endParaRPr lang="en-US" sz="1200" dirty="0"/>
          </a:p>
        </p:txBody>
      </p:sp>
      <p:sp>
        <p:nvSpPr>
          <p:cNvPr id="15" name="Shape 13"/>
          <p:cNvSpPr/>
          <p:nvPr/>
        </p:nvSpPr>
        <p:spPr>
          <a:xfrm>
            <a:off x="8046720" y="1536192"/>
            <a:ext cx="3749040" cy="502920"/>
          </a:xfrm>
          <a:prstGeom prst="rect">
            <a:avLst/>
          </a:prstGeom>
          <a:solidFill>
            <a:srgbClr val="CCFBF1"/>
          </a:solidFill>
          <a:ln/>
        </p:spPr>
      </p:sp>
      <p:sp>
        <p:nvSpPr>
          <p:cNvPr id="16" name="Text 14"/>
          <p:cNvSpPr/>
          <p:nvPr/>
        </p:nvSpPr>
        <p:spPr>
          <a:xfrm>
            <a:off x="8138160" y="1645920"/>
            <a:ext cx="3566160" cy="320040"/>
          </a:xfrm>
          <a:prstGeom prst="rect">
            <a:avLst/>
          </a:prstGeom>
          <a:noFill/>
          <a:ln/>
        </p:spPr>
        <p:txBody>
          <a:bodyPr wrap="square"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Strong</a:t>
            </a:r>
            <a:endParaRPr lang="en-US" sz="1200" dirty="0"/>
          </a:p>
        </p:txBody>
      </p:sp>
      <p:sp>
        <p:nvSpPr>
          <p:cNvPr id="17" name="Shape 15"/>
          <p:cNvSpPr/>
          <p:nvPr/>
        </p:nvSpPr>
        <p:spPr>
          <a:xfrm>
            <a:off x="365760" y="2039112"/>
            <a:ext cx="3749040" cy="502920"/>
          </a:xfrm>
          <a:prstGeom prst="rect">
            <a:avLst/>
          </a:prstGeom>
          <a:solidFill>
            <a:srgbClr val="FFFFFF"/>
          </a:solidFill>
          <a:ln/>
        </p:spPr>
      </p:sp>
      <p:sp>
        <p:nvSpPr>
          <p:cNvPr id="18" name="Text 16"/>
          <p:cNvSpPr/>
          <p:nvPr/>
        </p:nvSpPr>
        <p:spPr>
          <a:xfrm>
            <a:off x="457200" y="2148840"/>
            <a:ext cx="3566160" cy="320040"/>
          </a:xfrm>
          <a:prstGeom prst="rect">
            <a:avLst/>
          </a:prstGeom>
          <a:noFill/>
          <a:ln/>
        </p:spPr>
        <p:txBody>
          <a:bodyPr wrap="square" rtlCol="0" anchor="ctr"/>
          <a:lstStyle/>
          <a:p>
            <a:pPr algn="l" indent="0" marL="0">
              <a:buNone/>
            </a:pPr>
            <a:r>
              <a:rPr lang="en-US" sz="1200" b="1" dirty="0">
                <a:solidFill>
                  <a:srgbClr val="0F172A"/>
                </a:solidFill>
                <a:latin typeface="Calibri" pitchFamily="34" charset="0"/>
                <a:ea typeface="Calibri" pitchFamily="34" charset="-122"/>
                <a:cs typeface="Calibri" pitchFamily="34" charset="-120"/>
              </a:rPr>
              <a:t>Parent &amp; teacher mobile access</a:t>
            </a:r>
            <a:endParaRPr lang="en-US" sz="1200" dirty="0"/>
          </a:p>
        </p:txBody>
      </p:sp>
      <p:sp>
        <p:nvSpPr>
          <p:cNvPr id="19" name="Shape 17"/>
          <p:cNvSpPr/>
          <p:nvPr/>
        </p:nvSpPr>
        <p:spPr>
          <a:xfrm>
            <a:off x="4206240" y="2039112"/>
            <a:ext cx="3749040" cy="502920"/>
          </a:xfrm>
          <a:prstGeom prst="rect">
            <a:avLst/>
          </a:prstGeom>
          <a:solidFill>
            <a:srgbClr val="FFFFFF"/>
          </a:solidFill>
          <a:ln/>
        </p:spPr>
      </p:sp>
      <p:sp>
        <p:nvSpPr>
          <p:cNvPr id="20" name="Text 18"/>
          <p:cNvSpPr/>
          <p:nvPr/>
        </p:nvSpPr>
        <p:spPr>
          <a:xfrm>
            <a:off x="4297680" y="2148840"/>
            <a:ext cx="3566160" cy="320040"/>
          </a:xfrm>
          <a:prstGeom prst="rect">
            <a:avLst/>
          </a:prstGeom>
          <a:noFill/>
          <a:ln/>
        </p:spPr>
        <p:txBody>
          <a:bodyPr wrap="square" rtlCol="0" anchor="ctr"/>
          <a:lstStyle/>
          <a:p>
            <a:pPr algn="ctr" indent="0" marL="0">
              <a:buNone/>
            </a:pPr>
            <a:r>
              <a:rPr lang="en-US" sz="1200" dirty="0">
                <a:solidFill>
                  <a:srgbClr val="0F172A"/>
                </a:solidFill>
                <a:latin typeface="Calibri" pitchFamily="34" charset="0"/>
                <a:ea typeface="Calibri" pitchFamily="34" charset="-122"/>
                <a:cs typeface="Calibri" pitchFamily="34" charset="-120"/>
              </a:rPr>
              <a:t>Common</a:t>
            </a:r>
            <a:endParaRPr lang="en-US" sz="1200" dirty="0"/>
          </a:p>
        </p:txBody>
      </p:sp>
      <p:sp>
        <p:nvSpPr>
          <p:cNvPr id="21" name="Shape 19"/>
          <p:cNvSpPr/>
          <p:nvPr/>
        </p:nvSpPr>
        <p:spPr>
          <a:xfrm>
            <a:off x="8046720" y="2039112"/>
            <a:ext cx="3749040" cy="502920"/>
          </a:xfrm>
          <a:prstGeom prst="rect">
            <a:avLst/>
          </a:prstGeom>
          <a:solidFill>
            <a:srgbClr val="CCFBF1"/>
          </a:solidFill>
          <a:ln/>
        </p:spPr>
      </p:sp>
      <p:sp>
        <p:nvSpPr>
          <p:cNvPr id="22" name="Text 20"/>
          <p:cNvSpPr/>
          <p:nvPr/>
        </p:nvSpPr>
        <p:spPr>
          <a:xfrm>
            <a:off x="8138160" y="2148840"/>
            <a:ext cx="3566160" cy="320040"/>
          </a:xfrm>
          <a:prstGeom prst="rect">
            <a:avLst/>
          </a:prstGeom>
          <a:noFill/>
          <a:ln/>
        </p:spPr>
        <p:txBody>
          <a:bodyPr wrap="square"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Included</a:t>
            </a:r>
            <a:endParaRPr lang="en-US" sz="1200" dirty="0"/>
          </a:p>
        </p:txBody>
      </p:sp>
      <p:sp>
        <p:nvSpPr>
          <p:cNvPr id="23" name="Shape 21"/>
          <p:cNvSpPr/>
          <p:nvPr/>
        </p:nvSpPr>
        <p:spPr>
          <a:xfrm>
            <a:off x="365760" y="2542032"/>
            <a:ext cx="3749040" cy="502920"/>
          </a:xfrm>
          <a:prstGeom prst="rect">
            <a:avLst/>
          </a:prstGeom>
          <a:solidFill>
            <a:srgbClr val="F1F5F9"/>
          </a:solidFill>
          <a:ln/>
        </p:spPr>
      </p:sp>
      <p:sp>
        <p:nvSpPr>
          <p:cNvPr id="24" name="Text 22"/>
          <p:cNvSpPr/>
          <p:nvPr/>
        </p:nvSpPr>
        <p:spPr>
          <a:xfrm>
            <a:off x="457200" y="2651760"/>
            <a:ext cx="3566160" cy="320040"/>
          </a:xfrm>
          <a:prstGeom prst="rect">
            <a:avLst/>
          </a:prstGeom>
          <a:noFill/>
          <a:ln/>
        </p:spPr>
        <p:txBody>
          <a:bodyPr wrap="square" rtlCol="0" anchor="ctr"/>
          <a:lstStyle/>
          <a:p>
            <a:pPr algn="l" indent="0" marL="0">
              <a:buNone/>
            </a:pPr>
            <a:r>
              <a:rPr lang="en-US" sz="1200" b="1" dirty="0">
                <a:solidFill>
                  <a:srgbClr val="0F172A"/>
                </a:solidFill>
                <a:latin typeface="Calibri" pitchFamily="34" charset="0"/>
                <a:ea typeface="Calibri" pitchFamily="34" charset="-122"/>
                <a:cs typeface="Calibri" pitchFamily="34" charset="-120"/>
              </a:rPr>
              <a:t>Deep staff roles (VP, SD, HR…)</a:t>
            </a:r>
            <a:endParaRPr lang="en-US" sz="1200" dirty="0"/>
          </a:p>
        </p:txBody>
      </p:sp>
      <p:sp>
        <p:nvSpPr>
          <p:cNvPr id="25" name="Shape 23"/>
          <p:cNvSpPr/>
          <p:nvPr/>
        </p:nvSpPr>
        <p:spPr>
          <a:xfrm>
            <a:off x="4206240" y="2542032"/>
            <a:ext cx="3749040" cy="502920"/>
          </a:xfrm>
          <a:prstGeom prst="rect">
            <a:avLst/>
          </a:prstGeom>
          <a:solidFill>
            <a:srgbClr val="F1F5F9"/>
          </a:solidFill>
          <a:ln/>
        </p:spPr>
      </p:sp>
      <p:sp>
        <p:nvSpPr>
          <p:cNvPr id="26" name="Text 24"/>
          <p:cNvSpPr/>
          <p:nvPr/>
        </p:nvSpPr>
        <p:spPr>
          <a:xfrm>
            <a:off x="4297680" y="2651760"/>
            <a:ext cx="3566160" cy="320040"/>
          </a:xfrm>
          <a:prstGeom prst="rect">
            <a:avLst/>
          </a:prstGeom>
          <a:noFill/>
          <a:ln/>
        </p:spPr>
        <p:txBody>
          <a:bodyPr wrap="square" rtlCol="0" anchor="ctr"/>
          <a:lstStyle/>
          <a:p>
            <a:pPr algn="ctr" indent="0" marL="0">
              <a:buNone/>
            </a:pPr>
            <a:r>
              <a:rPr lang="en-US" sz="1200" dirty="0">
                <a:solidFill>
                  <a:srgbClr val="0F172A"/>
                </a:solidFill>
                <a:latin typeface="Calibri" pitchFamily="34" charset="0"/>
                <a:ea typeface="Calibri" pitchFamily="34" charset="-122"/>
                <a:cs typeface="Calibri" pitchFamily="34" charset="-120"/>
              </a:rPr>
              <a:t>Basic roles</a:t>
            </a:r>
            <a:endParaRPr lang="en-US" sz="1200" dirty="0"/>
          </a:p>
        </p:txBody>
      </p:sp>
      <p:sp>
        <p:nvSpPr>
          <p:cNvPr id="27" name="Shape 25"/>
          <p:cNvSpPr/>
          <p:nvPr/>
        </p:nvSpPr>
        <p:spPr>
          <a:xfrm>
            <a:off x="8046720" y="2542032"/>
            <a:ext cx="3749040" cy="502920"/>
          </a:xfrm>
          <a:prstGeom prst="rect">
            <a:avLst/>
          </a:prstGeom>
          <a:solidFill>
            <a:srgbClr val="CCFBF1"/>
          </a:solidFill>
          <a:ln/>
        </p:spPr>
      </p:sp>
      <p:sp>
        <p:nvSpPr>
          <p:cNvPr id="28" name="Text 26"/>
          <p:cNvSpPr/>
          <p:nvPr/>
        </p:nvSpPr>
        <p:spPr>
          <a:xfrm>
            <a:off x="8138160" y="2651760"/>
            <a:ext cx="3566160" cy="320040"/>
          </a:xfrm>
          <a:prstGeom prst="rect">
            <a:avLst/>
          </a:prstGeom>
          <a:noFill/>
          <a:ln/>
        </p:spPr>
        <p:txBody>
          <a:bodyPr wrap="square"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EDUABA permission matrix</a:t>
            </a:r>
            <a:endParaRPr lang="en-US" sz="1200" dirty="0"/>
          </a:p>
        </p:txBody>
      </p:sp>
      <p:sp>
        <p:nvSpPr>
          <p:cNvPr id="29" name="Shape 27"/>
          <p:cNvSpPr/>
          <p:nvPr/>
        </p:nvSpPr>
        <p:spPr>
          <a:xfrm>
            <a:off x="365760" y="3044952"/>
            <a:ext cx="3749040" cy="502920"/>
          </a:xfrm>
          <a:prstGeom prst="rect">
            <a:avLst/>
          </a:prstGeom>
          <a:solidFill>
            <a:srgbClr val="FFFFFF"/>
          </a:solidFill>
          <a:ln/>
        </p:spPr>
      </p:sp>
      <p:sp>
        <p:nvSpPr>
          <p:cNvPr id="30" name="Text 28"/>
          <p:cNvSpPr/>
          <p:nvPr/>
        </p:nvSpPr>
        <p:spPr>
          <a:xfrm>
            <a:off x="457200" y="3154680"/>
            <a:ext cx="3566160" cy="320040"/>
          </a:xfrm>
          <a:prstGeom prst="rect">
            <a:avLst/>
          </a:prstGeom>
          <a:noFill/>
          <a:ln/>
        </p:spPr>
        <p:txBody>
          <a:bodyPr wrap="square" rtlCol="0" anchor="ctr"/>
          <a:lstStyle/>
          <a:p>
            <a:pPr algn="l" indent="0" marL="0">
              <a:buNone/>
            </a:pPr>
            <a:r>
              <a:rPr lang="en-US" sz="1200" b="1" dirty="0">
                <a:solidFill>
                  <a:srgbClr val="0F172A"/>
                </a:solidFill>
                <a:latin typeface="Calibri" pitchFamily="34" charset="0"/>
                <a:ea typeface="Calibri" pitchFamily="34" charset="-122"/>
                <a:cs typeface="Calibri" pitchFamily="34" charset="-120"/>
              </a:rPr>
              <a:t>Grade quality gate (approve first)</a:t>
            </a:r>
            <a:endParaRPr lang="en-US" sz="1200" dirty="0"/>
          </a:p>
        </p:txBody>
      </p:sp>
      <p:sp>
        <p:nvSpPr>
          <p:cNvPr id="31" name="Shape 29"/>
          <p:cNvSpPr/>
          <p:nvPr/>
        </p:nvSpPr>
        <p:spPr>
          <a:xfrm>
            <a:off x="4206240" y="3044952"/>
            <a:ext cx="3749040" cy="502920"/>
          </a:xfrm>
          <a:prstGeom prst="rect">
            <a:avLst/>
          </a:prstGeom>
          <a:solidFill>
            <a:srgbClr val="FFFFFF"/>
          </a:solidFill>
          <a:ln/>
        </p:spPr>
      </p:sp>
      <p:sp>
        <p:nvSpPr>
          <p:cNvPr id="32" name="Text 30"/>
          <p:cNvSpPr/>
          <p:nvPr/>
        </p:nvSpPr>
        <p:spPr>
          <a:xfrm>
            <a:off x="4297680" y="3154680"/>
            <a:ext cx="3566160" cy="320040"/>
          </a:xfrm>
          <a:prstGeom prst="rect">
            <a:avLst/>
          </a:prstGeom>
          <a:noFill/>
          <a:ln/>
        </p:spPr>
        <p:txBody>
          <a:bodyPr wrap="square" rtlCol="0" anchor="ctr"/>
          <a:lstStyle/>
          <a:p>
            <a:pPr algn="ctr" indent="0" marL="0">
              <a:buNone/>
            </a:pPr>
            <a:r>
              <a:rPr lang="en-US" sz="1200" dirty="0">
                <a:solidFill>
                  <a:srgbClr val="0F172A"/>
                </a:solidFill>
                <a:latin typeface="Calibri" pitchFamily="34" charset="0"/>
                <a:ea typeface="Calibri" pitchFamily="34" charset="-122"/>
                <a:cs typeface="Calibri" pitchFamily="34" charset="-120"/>
              </a:rPr>
              <a:t>Rare / weak</a:t>
            </a:r>
            <a:endParaRPr lang="en-US" sz="1200" dirty="0"/>
          </a:p>
        </p:txBody>
      </p:sp>
      <p:sp>
        <p:nvSpPr>
          <p:cNvPr id="33" name="Shape 31"/>
          <p:cNvSpPr/>
          <p:nvPr/>
        </p:nvSpPr>
        <p:spPr>
          <a:xfrm>
            <a:off x="8046720" y="3044952"/>
            <a:ext cx="3749040" cy="502920"/>
          </a:xfrm>
          <a:prstGeom prst="rect">
            <a:avLst/>
          </a:prstGeom>
          <a:solidFill>
            <a:srgbClr val="CCFBF1"/>
          </a:solidFill>
          <a:ln/>
        </p:spPr>
      </p:sp>
      <p:sp>
        <p:nvSpPr>
          <p:cNvPr id="34" name="Text 32"/>
          <p:cNvSpPr/>
          <p:nvPr/>
        </p:nvSpPr>
        <p:spPr>
          <a:xfrm>
            <a:off x="8138160" y="3154680"/>
            <a:ext cx="3566160" cy="320040"/>
          </a:xfrm>
          <a:prstGeom prst="rect">
            <a:avLst/>
          </a:prstGeom>
          <a:noFill/>
          <a:ln/>
        </p:spPr>
        <p:txBody>
          <a:bodyPr wrap="square"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Approve → then parents see</a:t>
            </a:r>
            <a:endParaRPr lang="en-US" sz="1200" dirty="0"/>
          </a:p>
        </p:txBody>
      </p:sp>
      <p:sp>
        <p:nvSpPr>
          <p:cNvPr id="35" name="Shape 33"/>
          <p:cNvSpPr/>
          <p:nvPr/>
        </p:nvSpPr>
        <p:spPr>
          <a:xfrm>
            <a:off x="365760" y="3547872"/>
            <a:ext cx="3749040" cy="502920"/>
          </a:xfrm>
          <a:prstGeom prst="rect">
            <a:avLst/>
          </a:prstGeom>
          <a:solidFill>
            <a:srgbClr val="F1F5F9"/>
          </a:solidFill>
          <a:ln/>
        </p:spPr>
      </p:sp>
      <p:sp>
        <p:nvSpPr>
          <p:cNvPr id="36" name="Text 34"/>
          <p:cNvSpPr/>
          <p:nvPr/>
        </p:nvSpPr>
        <p:spPr>
          <a:xfrm>
            <a:off x="457200" y="3657600"/>
            <a:ext cx="3566160" cy="320040"/>
          </a:xfrm>
          <a:prstGeom prst="rect">
            <a:avLst/>
          </a:prstGeom>
          <a:noFill/>
          <a:ln/>
        </p:spPr>
        <p:txBody>
          <a:bodyPr wrap="square" rtlCol="0" anchor="ctr"/>
          <a:lstStyle/>
          <a:p>
            <a:pPr algn="l" indent="0" marL="0">
              <a:buNone/>
            </a:pPr>
            <a:r>
              <a:rPr lang="en-US" sz="1200" b="1" dirty="0">
                <a:solidFill>
                  <a:srgbClr val="0F172A"/>
                </a:solidFill>
                <a:latin typeface="Calibri" pitchFamily="34" charset="0"/>
                <a:ea typeface="Calibri" pitchFamily="34" charset="-122"/>
                <a:cs typeface="Calibri" pitchFamily="34" charset="-120"/>
              </a:rPr>
              <a:t>Live school bus / driver portal</a:t>
            </a:r>
            <a:endParaRPr lang="en-US" sz="1200" dirty="0"/>
          </a:p>
        </p:txBody>
      </p:sp>
      <p:sp>
        <p:nvSpPr>
          <p:cNvPr id="37" name="Shape 35"/>
          <p:cNvSpPr/>
          <p:nvPr/>
        </p:nvSpPr>
        <p:spPr>
          <a:xfrm>
            <a:off x="4206240" y="3547872"/>
            <a:ext cx="3749040" cy="502920"/>
          </a:xfrm>
          <a:prstGeom prst="rect">
            <a:avLst/>
          </a:prstGeom>
          <a:solidFill>
            <a:srgbClr val="F1F5F9"/>
          </a:solidFill>
          <a:ln/>
        </p:spPr>
      </p:sp>
      <p:sp>
        <p:nvSpPr>
          <p:cNvPr id="38" name="Text 36"/>
          <p:cNvSpPr/>
          <p:nvPr/>
        </p:nvSpPr>
        <p:spPr>
          <a:xfrm>
            <a:off x="4297680" y="3657600"/>
            <a:ext cx="3566160" cy="320040"/>
          </a:xfrm>
          <a:prstGeom prst="rect">
            <a:avLst/>
          </a:prstGeom>
          <a:noFill/>
          <a:ln/>
        </p:spPr>
        <p:txBody>
          <a:bodyPr wrap="square" rtlCol="0" anchor="ctr"/>
          <a:lstStyle/>
          <a:p>
            <a:pPr algn="ctr" indent="0" marL="0">
              <a:buNone/>
            </a:pPr>
            <a:r>
              <a:rPr lang="en-US" sz="1200" dirty="0">
                <a:solidFill>
                  <a:srgbClr val="0F172A"/>
                </a:solidFill>
                <a:latin typeface="Calibri" pitchFamily="34" charset="0"/>
                <a:ea typeface="Calibri" pitchFamily="34" charset="-122"/>
                <a:cs typeface="Calibri" pitchFamily="34" charset="-120"/>
              </a:rPr>
              <a:t>Basic or none</a:t>
            </a:r>
            <a:endParaRPr lang="en-US" sz="1200" dirty="0"/>
          </a:p>
        </p:txBody>
      </p:sp>
      <p:sp>
        <p:nvSpPr>
          <p:cNvPr id="39" name="Shape 37"/>
          <p:cNvSpPr/>
          <p:nvPr/>
        </p:nvSpPr>
        <p:spPr>
          <a:xfrm>
            <a:off x="8046720" y="3547872"/>
            <a:ext cx="3749040" cy="502920"/>
          </a:xfrm>
          <a:prstGeom prst="rect">
            <a:avLst/>
          </a:prstGeom>
          <a:solidFill>
            <a:srgbClr val="CCFBF1"/>
          </a:solidFill>
          <a:ln/>
        </p:spPr>
      </p:sp>
      <p:sp>
        <p:nvSpPr>
          <p:cNvPr id="40" name="Text 38"/>
          <p:cNvSpPr/>
          <p:nvPr/>
        </p:nvSpPr>
        <p:spPr>
          <a:xfrm>
            <a:off x="8138160" y="3657600"/>
            <a:ext cx="3566160" cy="320040"/>
          </a:xfrm>
          <a:prstGeom prst="rect">
            <a:avLst/>
          </a:prstGeom>
          <a:noFill/>
          <a:ln/>
        </p:spPr>
        <p:txBody>
          <a:bodyPr wrap="square"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Transport + live location</a:t>
            </a:r>
            <a:endParaRPr lang="en-US" sz="1200" dirty="0"/>
          </a:p>
        </p:txBody>
      </p:sp>
      <p:sp>
        <p:nvSpPr>
          <p:cNvPr id="41" name="Shape 39"/>
          <p:cNvSpPr/>
          <p:nvPr/>
        </p:nvSpPr>
        <p:spPr>
          <a:xfrm>
            <a:off x="365760" y="4050792"/>
            <a:ext cx="3749040" cy="502920"/>
          </a:xfrm>
          <a:prstGeom prst="rect">
            <a:avLst/>
          </a:prstGeom>
          <a:solidFill>
            <a:srgbClr val="FFFFFF"/>
          </a:solidFill>
          <a:ln/>
        </p:spPr>
      </p:sp>
      <p:sp>
        <p:nvSpPr>
          <p:cNvPr id="42" name="Text 40"/>
          <p:cNvSpPr/>
          <p:nvPr/>
        </p:nvSpPr>
        <p:spPr>
          <a:xfrm>
            <a:off x="457200" y="4160520"/>
            <a:ext cx="3566160" cy="320040"/>
          </a:xfrm>
          <a:prstGeom prst="rect">
            <a:avLst/>
          </a:prstGeom>
          <a:noFill/>
          <a:ln/>
        </p:spPr>
        <p:txBody>
          <a:bodyPr wrap="square" rtlCol="0" anchor="ctr"/>
          <a:lstStyle/>
          <a:p>
            <a:pPr algn="l" indent="0" marL="0">
              <a:buNone/>
            </a:pPr>
            <a:r>
              <a:rPr lang="en-US" sz="1200" b="1" dirty="0">
                <a:solidFill>
                  <a:srgbClr val="0F172A"/>
                </a:solidFill>
                <a:latin typeface="Calibri" pitchFamily="34" charset="0"/>
                <a:ea typeface="Calibri" pitchFamily="34" charset="-122"/>
                <a:cs typeface="Calibri" pitchFamily="34" charset="-120"/>
              </a:rPr>
              <a:t>Inventory &amp; procurement</a:t>
            </a:r>
            <a:endParaRPr lang="en-US" sz="1200" dirty="0"/>
          </a:p>
        </p:txBody>
      </p:sp>
      <p:sp>
        <p:nvSpPr>
          <p:cNvPr id="43" name="Shape 41"/>
          <p:cNvSpPr/>
          <p:nvPr/>
        </p:nvSpPr>
        <p:spPr>
          <a:xfrm>
            <a:off x="4206240" y="4050792"/>
            <a:ext cx="3749040" cy="502920"/>
          </a:xfrm>
          <a:prstGeom prst="rect">
            <a:avLst/>
          </a:prstGeom>
          <a:solidFill>
            <a:srgbClr val="FFFFFF"/>
          </a:solidFill>
          <a:ln/>
        </p:spPr>
      </p:sp>
      <p:sp>
        <p:nvSpPr>
          <p:cNvPr id="44" name="Text 42"/>
          <p:cNvSpPr/>
          <p:nvPr/>
        </p:nvSpPr>
        <p:spPr>
          <a:xfrm>
            <a:off x="4297680" y="4160520"/>
            <a:ext cx="3566160" cy="320040"/>
          </a:xfrm>
          <a:prstGeom prst="rect">
            <a:avLst/>
          </a:prstGeom>
          <a:noFill/>
          <a:ln/>
        </p:spPr>
        <p:txBody>
          <a:bodyPr wrap="square" rtlCol="0" anchor="ctr"/>
          <a:lstStyle/>
          <a:p>
            <a:pPr algn="ctr" indent="0" marL="0">
              <a:buNone/>
            </a:pPr>
            <a:r>
              <a:rPr lang="en-US" sz="1200" dirty="0">
                <a:solidFill>
                  <a:srgbClr val="0F172A"/>
                </a:solidFill>
                <a:latin typeface="Calibri" pitchFamily="34" charset="0"/>
                <a:ea typeface="Calibri" pitchFamily="34" charset="-122"/>
                <a:cs typeface="Calibri" pitchFamily="34" charset="-120"/>
              </a:rPr>
              <a:t>Usually separate</a:t>
            </a:r>
            <a:endParaRPr lang="en-US" sz="1200" dirty="0"/>
          </a:p>
        </p:txBody>
      </p:sp>
      <p:sp>
        <p:nvSpPr>
          <p:cNvPr id="45" name="Shape 43"/>
          <p:cNvSpPr/>
          <p:nvPr/>
        </p:nvSpPr>
        <p:spPr>
          <a:xfrm>
            <a:off x="8046720" y="4050792"/>
            <a:ext cx="3749040" cy="502920"/>
          </a:xfrm>
          <a:prstGeom prst="rect">
            <a:avLst/>
          </a:prstGeom>
          <a:solidFill>
            <a:srgbClr val="CCFBF1"/>
          </a:solidFill>
          <a:ln/>
        </p:spPr>
      </p:sp>
      <p:sp>
        <p:nvSpPr>
          <p:cNvPr id="46" name="Text 44"/>
          <p:cNvSpPr/>
          <p:nvPr/>
        </p:nvSpPr>
        <p:spPr>
          <a:xfrm>
            <a:off x="8138160" y="4160520"/>
            <a:ext cx="3566160" cy="320040"/>
          </a:xfrm>
          <a:prstGeom prst="rect">
            <a:avLst/>
          </a:prstGeom>
          <a:noFill/>
          <a:ln/>
        </p:spPr>
        <p:txBody>
          <a:bodyPr wrap="square"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Built into the ERP</a:t>
            </a:r>
            <a:endParaRPr lang="en-US" sz="1200" dirty="0"/>
          </a:p>
        </p:txBody>
      </p:sp>
      <p:sp>
        <p:nvSpPr>
          <p:cNvPr id="47" name="Shape 45"/>
          <p:cNvSpPr/>
          <p:nvPr/>
        </p:nvSpPr>
        <p:spPr>
          <a:xfrm>
            <a:off x="365760" y="4553712"/>
            <a:ext cx="3749040" cy="502920"/>
          </a:xfrm>
          <a:prstGeom prst="rect">
            <a:avLst/>
          </a:prstGeom>
          <a:solidFill>
            <a:srgbClr val="F1F5F9"/>
          </a:solidFill>
          <a:ln/>
        </p:spPr>
      </p:sp>
      <p:sp>
        <p:nvSpPr>
          <p:cNvPr id="48" name="Text 46"/>
          <p:cNvSpPr/>
          <p:nvPr/>
        </p:nvSpPr>
        <p:spPr>
          <a:xfrm>
            <a:off x="457200" y="4663440"/>
            <a:ext cx="3566160" cy="320040"/>
          </a:xfrm>
          <a:prstGeom prst="rect">
            <a:avLst/>
          </a:prstGeom>
          <a:noFill/>
          <a:ln/>
        </p:spPr>
        <p:txBody>
          <a:bodyPr wrap="square" rtlCol="0" anchor="ctr"/>
          <a:lstStyle/>
          <a:p>
            <a:pPr algn="l" indent="0" marL="0">
              <a:buNone/>
            </a:pPr>
            <a:r>
              <a:rPr lang="en-US" sz="1200" b="1" dirty="0">
                <a:solidFill>
                  <a:srgbClr val="0F172A"/>
                </a:solidFill>
                <a:latin typeface="Calibri" pitchFamily="34" charset="0"/>
                <a:ea typeface="Calibri" pitchFamily="34" charset="-122"/>
                <a:cs typeface="Calibri" pitchFamily="34" charset="-120"/>
              </a:rPr>
              <a:t>EN + Amharic + Afaan Oromo</a:t>
            </a:r>
            <a:endParaRPr lang="en-US" sz="1200" dirty="0"/>
          </a:p>
        </p:txBody>
      </p:sp>
      <p:sp>
        <p:nvSpPr>
          <p:cNvPr id="49" name="Shape 47"/>
          <p:cNvSpPr/>
          <p:nvPr/>
        </p:nvSpPr>
        <p:spPr>
          <a:xfrm>
            <a:off x="4206240" y="4553712"/>
            <a:ext cx="3749040" cy="502920"/>
          </a:xfrm>
          <a:prstGeom prst="rect">
            <a:avLst/>
          </a:prstGeom>
          <a:solidFill>
            <a:srgbClr val="F1F5F9"/>
          </a:solidFill>
          <a:ln/>
        </p:spPr>
      </p:sp>
      <p:sp>
        <p:nvSpPr>
          <p:cNvPr id="50" name="Text 48"/>
          <p:cNvSpPr/>
          <p:nvPr/>
        </p:nvSpPr>
        <p:spPr>
          <a:xfrm>
            <a:off x="4297680" y="4663440"/>
            <a:ext cx="3566160" cy="320040"/>
          </a:xfrm>
          <a:prstGeom prst="rect">
            <a:avLst/>
          </a:prstGeom>
          <a:noFill/>
          <a:ln/>
        </p:spPr>
        <p:txBody>
          <a:bodyPr wrap="square" rtlCol="0" anchor="ctr"/>
          <a:lstStyle/>
          <a:p>
            <a:pPr algn="ctr" indent="0" marL="0">
              <a:buNone/>
            </a:pPr>
            <a:r>
              <a:rPr lang="en-US" sz="1200" dirty="0">
                <a:solidFill>
                  <a:srgbClr val="0F172A"/>
                </a:solidFill>
                <a:latin typeface="Calibri" pitchFamily="34" charset="0"/>
                <a:ea typeface="Calibri" pitchFamily="34" charset="-122"/>
                <a:cs typeface="Calibri" pitchFamily="34" charset="-120"/>
              </a:rPr>
              <a:t>Varies</a:t>
            </a:r>
            <a:endParaRPr lang="en-US" sz="1200" dirty="0"/>
          </a:p>
        </p:txBody>
      </p:sp>
      <p:sp>
        <p:nvSpPr>
          <p:cNvPr id="51" name="Shape 49"/>
          <p:cNvSpPr/>
          <p:nvPr/>
        </p:nvSpPr>
        <p:spPr>
          <a:xfrm>
            <a:off x="8046720" y="4553712"/>
            <a:ext cx="3749040" cy="502920"/>
          </a:xfrm>
          <a:prstGeom prst="rect">
            <a:avLst/>
          </a:prstGeom>
          <a:solidFill>
            <a:srgbClr val="CCFBF1"/>
          </a:solidFill>
          <a:ln/>
        </p:spPr>
      </p:sp>
      <p:sp>
        <p:nvSpPr>
          <p:cNvPr id="52" name="Text 50"/>
          <p:cNvSpPr/>
          <p:nvPr/>
        </p:nvSpPr>
        <p:spPr>
          <a:xfrm>
            <a:off x="8138160" y="4663440"/>
            <a:ext cx="3566160" cy="320040"/>
          </a:xfrm>
          <a:prstGeom prst="rect">
            <a:avLst/>
          </a:prstGeom>
          <a:noFill/>
          <a:ln/>
        </p:spPr>
        <p:txBody>
          <a:bodyPr wrap="square"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Built-in</a:t>
            </a:r>
            <a:endParaRPr lang="en-US" sz="1200" dirty="0"/>
          </a:p>
        </p:txBody>
      </p:sp>
      <p:sp>
        <p:nvSpPr>
          <p:cNvPr id="53" name="Shape 51"/>
          <p:cNvSpPr/>
          <p:nvPr/>
        </p:nvSpPr>
        <p:spPr>
          <a:xfrm>
            <a:off x="365760" y="5056632"/>
            <a:ext cx="3749040" cy="502920"/>
          </a:xfrm>
          <a:prstGeom prst="rect">
            <a:avLst/>
          </a:prstGeom>
          <a:solidFill>
            <a:srgbClr val="FFFFFF"/>
          </a:solidFill>
          <a:ln/>
        </p:spPr>
      </p:sp>
      <p:sp>
        <p:nvSpPr>
          <p:cNvPr id="54" name="Text 52"/>
          <p:cNvSpPr/>
          <p:nvPr/>
        </p:nvSpPr>
        <p:spPr>
          <a:xfrm>
            <a:off x="457200" y="5166360"/>
            <a:ext cx="3566160" cy="320040"/>
          </a:xfrm>
          <a:prstGeom prst="rect">
            <a:avLst/>
          </a:prstGeom>
          <a:noFill/>
          <a:ln/>
        </p:spPr>
        <p:txBody>
          <a:bodyPr wrap="square" rtlCol="0" anchor="ctr"/>
          <a:lstStyle/>
          <a:p>
            <a:pPr algn="l" indent="0" marL="0">
              <a:buNone/>
            </a:pPr>
            <a:r>
              <a:rPr lang="en-US" sz="1200" b="1" dirty="0">
                <a:solidFill>
                  <a:srgbClr val="0F172A"/>
                </a:solidFill>
                <a:latin typeface="Calibri" pitchFamily="34" charset="0"/>
                <a:ea typeface="Calibri" pitchFamily="34" charset="-122"/>
                <a:cs typeface="Calibri" pitchFamily="34" charset="-120"/>
              </a:rPr>
              <a:t>Transparent school quote</a:t>
            </a:r>
            <a:endParaRPr lang="en-US" sz="1200" dirty="0"/>
          </a:p>
        </p:txBody>
      </p:sp>
      <p:sp>
        <p:nvSpPr>
          <p:cNvPr id="55" name="Shape 53"/>
          <p:cNvSpPr/>
          <p:nvPr/>
        </p:nvSpPr>
        <p:spPr>
          <a:xfrm>
            <a:off x="4206240" y="5056632"/>
            <a:ext cx="3749040" cy="502920"/>
          </a:xfrm>
          <a:prstGeom prst="rect">
            <a:avLst/>
          </a:prstGeom>
          <a:solidFill>
            <a:srgbClr val="FFFFFF"/>
          </a:solidFill>
          <a:ln/>
        </p:spPr>
      </p:sp>
      <p:sp>
        <p:nvSpPr>
          <p:cNvPr id="56" name="Text 54"/>
          <p:cNvSpPr/>
          <p:nvPr/>
        </p:nvSpPr>
        <p:spPr>
          <a:xfrm>
            <a:off x="4297680" y="5166360"/>
            <a:ext cx="3566160" cy="320040"/>
          </a:xfrm>
          <a:prstGeom prst="rect">
            <a:avLst/>
          </a:prstGeom>
          <a:noFill/>
          <a:ln/>
        </p:spPr>
        <p:txBody>
          <a:bodyPr wrap="square" rtlCol="0" anchor="ctr"/>
          <a:lstStyle/>
          <a:p>
            <a:pPr algn="ctr" indent="0" marL="0">
              <a:buNone/>
            </a:pPr>
            <a:r>
              <a:rPr lang="en-US" sz="1200" dirty="0">
                <a:solidFill>
                  <a:srgbClr val="0F172A"/>
                </a:solidFill>
                <a:latin typeface="Calibri" pitchFamily="34" charset="0"/>
                <a:ea typeface="Calibri" pitchFamily="34" charset="-122"/>
                <a:cs typeface="Calibri" pitchFamily="34" charset="-120"/>
              </a:rPr>
              <a:t>Custom quotes</a:t>
            </a:r>
            <a:endParaRPr lang="en-US" sz="1200" dirty="0"/>
          </a:p>
        </p:txBody>
      </p:sp>
      <p:sp>
        <p:nvSpPr>
          <p:cNvPr id="57" name="Shape 55"/>
          <p:cNvSpPr/>
          <p:nvPr/>
        </p:nvSpPr>
        <p:spPr>
          <a:xfrm>
            <a:off x="8046720" y="5056632"/>
            <a:ext cx="3749040" cy="502920"/>
          </a:xfrm>
          <a:prstGeom prst="rect">
            <a:avLst/>
          </a:prstGeom>
          <a:solidFill>
            <a:srgbClr val="CCFBF1"/>
          </a:solidFill>
          <a:ln/>
        </p:spPr>
      </p:sp>
      <p:sp>
        <p:nvSpPr>
          <p:cNvPr id="58" name="Text 56"/>
          <p:cNvSpPr/>
          <p:nvPr/>
        </p:nvSpPr>
        <p:spPr>
          <a:xfrm>
            <a:off x="8138160" y="5166360"/>
            <a:ext cx="3566160" cy="320040"/>
          </a:xfrm>
          <a:prstGeom prst="rect">
            <a:avLst/>
          </a:prstGeom>
          <a:noFill/>
          <a:ln/>
        </p:spPr>
        <p:txBody>
          <a:bodyPr wrap="square"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200–400 ETB / student + VAT</a:t>
            </a:r>
            <a:endParaRPr lang="en-US" sz="1200" dirty="0"/>
          </a:p>
        </p:txBody>
      </p:sp>
      <p:sp>
        <p:nvSpPr>
          <p:cNvPr id="59" name="Shape 57"/>
          <p:cNvSpPr/>
          <p:nvPr/>
        </p:nvSpPr>
        <p:spPr>
          <a:xfrm>
            <a:off x="365760" y="5559552"/>
            <a:ext cx="3749040" cy="502920"/>
          </a:xfrm>
          <a:prstGeom prst="rect">
            <a:avLst/>
          </a:prstGeom>
          <a:solidFill>
            <a:srgbClr val="F1F5F9"/>
          </a:solidFill>
          <a:ln/>
        </p:spPr>
      </p:sp>
      <p:sp>
        <p:nvSpPr>
          <p:cNvPr id="60" name="Text 58"/>
          <p:cNvSpPr/>
          <p:nvPr/>
        </p:nvSpPr>
        <p:spPr>
          <a:xfrm>
            <a:off x="457200" y="5669280"/>
            <a:ext cx="3566160" cy="320040"/>
          </a:xfrm>
          <a:prstGeom prst="rect">
            <a:avLst/>
          </a:prstGeom>
          <a:noFill/>
          <a:ln/>
        </p:spPr>
        <p:txBody>
          <a:bodyPr wrap="square" rtlCol="0" anchor="ctr"/>
          <a:lstStyle/>
          <a:p>
            <a:pPr algn="l" indent="0" marL="0">
              <a:buNone/>
            </a:pPr>
            <a:r>
              <a:rPr lang="en-US" sz="1200" b="1" dirty="0">
                <a:solidFill>
                  <a:srgbClr val="0F172A"/>
                </a:solidFill>
                <a:latin typeface="Calibri" pitchFamily="34" charset="0"/>
                <a:ea typeface="Calibri" pitchFamily="34" charset="-122"/>
                <a:cs typeface="Calibri" pitchFamily="34" charset="-120"/>
              </a:rPr>
              <a:t>School data isolation (cloud)</a:t>
            </a:r>
            <a:endParaRPr lang="en-US" sz="1200" dirty="0"/>
          </a:p>
        </p:txBody>
      </p:sp>
      <p:sp>
        <p:nvSpPr>
          <p:cNvPr id="61" name="Shape 59"/>
          <p:cNvSpPr/>
          <p:nvPr/>
        </p:nvSpPr>
        <p:spPr>
          <a:xfrm>
            <a:off x="4206240" y="5559552"/>
            <a:ext cx="3749040" cy="502920"/>
          </a:xfrm>
          <a:prstGeom prst="rect">
            <a:avLst/>
          </a:prstGeom>
          <a:solidFill>
            <a:srgbClr val="F1F5F9"/>
          </a:solidFill>
          <a:ln/>
        </p:spPr>
      </p:sp>
      <p:sp>
        <p:nvSpPr>
          <p:cNvPr id="62" name="Text 60"/>
          <p:cNvSpPr/>
          <p:nvPr/>
        </p:nvSpPr>
        <p:spPr>
          <a:xfrm>
            <a:off x="4297680" y="5669280"/>
            <a:ext cx="3566160" cy="320040"/>
          </a:xfrm>
          <a:prstGeom prst="rect">
            <a:avLst/>
          </a:prstGeom>
          <a:noFill/>
          <a:ln/>
        </p:spPr>
        <p:txBody>
          <a:bodyPr wrap="square" rtlCol="0" anchor="ctr"/>
          <a:lstStyle/>
          <a:p>
            <a:pPr algn="ctr" indent="0" marL="0">
              <a:buNone/>
            </a:pPr>
            <a:r>
              <a:rPr lang="en-US" sz="1200" dirty="0">
                <a:solidFill>
                  <a:srgbClr val="0F172A"/>
                </a:solidFill>
                <a:latin typeface="Calibri" pitchFamily="34" charset="0"/>
                <a:ea typeface="Calibri" pitchFamily="34" charset="-122"/>
                <a:cs typeface="Calibri" pitchFamily="34" charset="-120"/>
              </a:rPr>
              <a:t>Shared SaaS</a:t>
            </a:r>
            <a:endParaRPr lang="en-US" sz="1200" dirty="0"/>
          </a:p>
        </p:txBody>
      </p:sp>
      <p:sp>
        <p:nvSpPr>
          <p:cNvPr id="63" name="Shape 61"/>
          <p:cNvSpPr/>
          <p:nvPr/>
        </p:nvSpPr>
        <p:spPr>
          <a:xfrm>
            <a:off x="8046720" y="5559552"/>
            <a:ext cx="3749040" cy="502920"/>
          </a:xfrm>
          <a:prstGeom prst="rect">
            <a:avLst/>
          </a:prstGeom>
          <a:solidFill>
            <a:srgbClr val="CCFBF1"/>
          </a:solidFill>
          <a:ln/>
        </p:spPr>
      </p:sp>
      <p:sp>
        <p:nvSpPr>
          <p:cNvPr id="64" name="Text 62"/>
          <p:cNvSpPr/>
          <p:nvPr/>
        </p:nvSpPr>
        <p:spPr>
          <a:xfrm>
            <a:off x="8138160" y="5669280"/>
            <a:ext cx="3566160" cy="320040"/>
          </a:xfrm>
          <a:prstGeom prst="rect">
            <a:avLst/>
          </a:prstGeom>
          <a:noFill/>
          <a:ln/>
        </p:spPr>
        <p:txBody>
          <a:bodyPr wrap="square"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Per-school security boundary</a:t>
            </a:r>
            <a:endParaRPr lang="en-US" sz="1200" dirty="0"/>
          </a:p>
        </p:txBody>
      </p:sp>
      <p:sp>
        <p:nvSpPr>
          <p:cNvPr id="65" name="Text 63"/>
          <p:cNvSpPr/>
          <p:nvPr/>
        </p:nvSpPr>
        <p:spPr>
          <a:xfrm>
            <a:off x="365760" y="6537960"/>
            <a:ext cx="9601200" cy="22860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MayaBela · Confidential · School leadership briefing</a:t>
            </a:r>
            <a:endParaRPr lang="en-US" sz="900" dirty="0"/>
          </a:p>
        </p:txBody>
      </p:sp>
      <p:sp>
        <p:nvSpPr>
          <p:cNvPr id="66" name="Text 64"/>
          <p:cNvSpPr/>
          <p:nvPr/>
        </p:nvSpPr>
        <p:spPr>
          <a:xfrm>
            <a:off x="10789920" y="6537960"/>
            <a:ext cx="914400" cy="22860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F766E"/>
          </a:solidFill>
          <a:ln/>
        </p:spPr>
      </p:sp>
      <p:sp>
        <p:nvSpPr>
          <p:cNvPr id="3" name="Text 1"/>
          <p:cNvSpPr/>
          <p:nvPr/>
        </p:nvSpPr>
        <p:spPr>
          <a:xfrm>
            <a:off x="411480" y="164592"/>
            <a:ext cx="11338560" cy="36576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What MayaBela offers — in one sentence</a:t>
            </a:r>
            <a:endParaRPr lang="en-US" sz="2200" dirty="0"/>
          </a:p>
        </p:txBody>
      </p:sp>
      <p:sp>
        <p:nvSpPr>
          <p:cNvPr id="4" name="Text 2"/>
          <p:cNvSpPr/>
          <p:nvPr/>
        </p:nvSpPr>
        <p:spPr>
          <a:xfrm>
            <a:off x="411480" y="530352"/>
            <a:ext cx="11338560" cy="292608"/>
          </a:xfrm>
          <a:prstGeom prst="rect">
            <a:avLst/>
          </a:prstGeom>
          <a:noFill/>
          <a:ln/>
        </p:spPr>
        <p:txBody>
          <a:bodyPr wrap="square" rtlCol="0" anchor="ctr"/>
          <a:lstStyle/>
          <a:p>
            <a:pPr indent="0" marL="0">
              <a:buNone/>
            </a:pPr>
            <a:r>
              <a:rPr lang="en-US" sz="1200" dirty="0">
                <a:solidFill>
                  <a:srgbClr val="CCFBF1"/>
                </a:solidFill>
                <a:latin typeface="Calibri" pitchFamily="34" charset="0"/>
                <a:ea typeface="Calibri" pitchFamily="34" charset="-122"/>
                <a:cs typeface="Calibri" pitchFamily="34" charset="-120"/>
              </a:rPr>
              <a:t>One platform. Every role. Owner-level visibility.</a:t>
            </a:r>
            <a:endParaRPr lang="en-US" sz="1200" dirty="0"/>
          </a:p>
        </p:txBody>
      </p:sp>
      <p:sp>
        <p:nvSpPr>
          <p:cNvPr id="5" name="Shape 3"/>
          <p:cNvSpPr/>
          <p:nvPr/>
        </p:nvSpPr>
        <p:spPr>
          <a:xfrm>
            <a:off x="457200" y="1188720"/>
            <a:ext cx="11247120" cy="1188720"/>
          </a:xfrm>
          <a:prstGeom prst="roundRect">
            <a:avLst>
              <a:gd name="adj" fmla="val 7692"/>
            </a:avLst>
          </a:prstGeom>
          <a:solidFill>
            <a:srgbClr val="FFFBEB"/>
          </a:solidFill>
          <a:ln/>
        </p:spPr>
      </p:sp>
      <p:sp>
        <p:nvSpPr>
          <p:cNvPr id="6" name="Text 4"/>
          <p:cNvSpPr/>
          <p:nvPr/>
        </p:nvSpPr>
        <p:spPr>
          <a:xfrm>
            <a:off x="685800" y="1417320"/>
            <a:ext cx="10789920" cy="822960"/>
          </a:xfrm>
          <a:prstGeom prst="rect">
            <a:avLst/>
          </a:prstGeom>
          <a:noFill/>
          <a:ln/>
        </p:spPr>
        <p:txBody>
          <a:bodyPr wrap="square" rtlCol="0" anchor="ctr"/>
          <a:lstStyle/>
          <a:p>
            <a:pPr indent="0" marL="0">
              <a:buNone/>
            </a:pPr>
            <a:r>
              <a:rPr lang="en-US" sz="1600" dirty="0">
                <a:solidFill>
                  <a:srgbClr val="0F172A"/>
                </a:solidFill>
                <a:latin typeface="Calibri" pitchFamily="34" charset="0"/>
                <a:ea typeface="Calibri" pitchFamily="34" charset="-122"/>
                <a:cs typeface="Calibri" pitchFamily="34" charset="-120"/>
              </a:rPr>
              <a:t>MayaBela (EduAba) is a cloud school ERP that connects owners, leadership, teachers, parents, students, and drivers — so academics, people, money signals, transport, and stores run as one system.</a:t>
            </a:r>
            <a:endParaRPr lang="en-US" sz="1600" dirty="0"/>
          </a:p>
        </p:txBody>
      </p:sp>
      <p:sp>
        <p:nvSpPr>
          <p:cNvPr id="7" name="Shape 5"/>
          <p:cNvSpPr/>
          <p:nvPr/>
        </p:nvSpPr>
        <p:spPr>
          <a:xfrm>
            <a:off x="457200" y="2651760"/>
            <a:ext cx="3657600" cy="1508760"/>
          </a:xfrm>
          <a:prstGeom prst="roundRect">
            <a:avLst>
              <a:gd name="adj" fmla="val 6061"/>
            </a:avLst>
          </a:prstGeom>
          <a:solidFill>
            <a:srgbClr val="F1F5F9"/>
          </a:solidFill>
          <a:ln/>
        </p:spPr>
      </p:sp>
      <p:sp>
        <p:nvSpPr>
          <p:cNvPr id="8" name="Text 6"/>
          <p:cNvSpPr/>
          <p:nvPr/>
        </p:nvSpPr>
        <p:spPr>
          <a:xfrm>
            <a:off x="640080" y="2880360"/>
            <a:ext cx="3291840" cy="365760"/>
          </a:xfrm>
          <a:prstGeom prst="rect">
            <a:avLst/>
          </a:prstGeom>
          <a:noFill/>
          <a:ln/>
        </p:spPr>
        <p:txBody>
          <a:bodyPr wrap="square" rtlCol="0" anchor="ctr"/>
          <a:lstStyle/>
          <a:p>
            <a:pPr indent="0" marL="0">
              <a:buNone/>
            </a:pPr>
            <a:r>
              <a:rPr lang="en-US" sz="1500" b="1" dirty="0">
                <a:solidFill>
                  <a:srgbClr val="115E59"/>
                </a:solidFill>
                <a:latin typeface="Calibri" pitchFamily="34" charset="0"/>
                <a:ea typeface="Calibri" pitchFamily="34" charset="-122"/>
                <a:cs typeface="Calibri" pitchFamily="34" charset="-120"/>
              </a:rPr>
              <a:t>Academic engine</a:t>
            </a:r>
            <a:endParaRPr lang="en-US" sz="1500" dirty="0"/>
          </a:p>
        </p:txBody>
      </p:sp>
      <p:sp>
        <p:nvSpPr>
          <p:cNvPr id="9" name="Text 7"/>
          <p:cNvSpPr/>
          <p:nvPr/>
        </p:nvSpPr>
        <p:spPr>
          <a:xfrm>
            <a:off x="640080" y="3337560"/>
            <a:ext cx="3291840" cy="64008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Classes, sections, attendance, subjects, grade entry &amp; publishing</a:t>
            </a:r>
            <a:endParaRPr lang="en-US" sz="1300" dirty="0"/>
          </a:p>
        </p:txBody>
      </p:sp>
      <p:sp>
        <p:nvSpPr>
          <p:cNvPr id="10" name="Shape 8"/>
          <p:cNvSpPr/>
          <p:nvPr/>
        </p:nvSpPr>
        <p:spPr>
          <a:xfrm>
            <a:off x="4297680" y="2651760"/>
            <a:ext cx="3657600" cy="1508760"/>
          </a:xfrm>
          <a:prstGeom prst="roundRect">
            <a:avLst>
              <a:gd name="adj" fmla="val 6061"/>
            </a:avLst>
          </a:prstGeom>
          <a:solidFill>
            <a:srgbClr val="F1F5F9"/>
          </a:solidFill>
          <a:ln/>
        </p:spPr>
      </p:sp>
      <p:sp>
        <p:nvSpPr>
          <p:cNvPr id="11" name="Text 9"/>
          <p:cNvSpPr/>
          <p:nvPr/>
        </p:nvSpPr>
        <p:spPr>
          <a:xfrm>
            <a:off x="4480560" y="2880360"/>
            <a:ext cx="3291840" cy="365760"/>
          </a:xfrm>
          <a:prstGeom prst="rect">
            <a:avLst/>
          </a:prstGeom>
          <a:noFill/>
          <a:ln/>
        </p:spPr>
        <p:txBody>
          <a:bodyPr wrap="square" rtlCol="0" anchor="ctr"/>
          <a:lstStyle/>
          <a:p>
            <a:pPr indent="0" marL="0">
              <a:buNone/>
            </a:pPr>
            <a:r>
              <a:rPr lang="en-US" sz="1500" b="1" dirty="0">
                <a:solidFill>
                  <a:srgbClr val="115E59"/>
                </a:solidFill>
                <a:latin typeface="Calibri" pitchFamily="34" charset="0"/>
                <a:ea typeface="Calibri" pitchFamily="34" charset="-122"/>
                <a:cs typeface="Calibri" pitchFamily="34" charset="-120"/>
              </a:rPr>
              <a:t>Leadership control</a:t>
            </a:r>
            <a:endParaRPr lang="en-US" sz="1500" dirty="0"/>
          </a:p>
        </p:txBody>
      </p:sp>
      <p:sp>
        <p:nvSpPr>
          <p:cNvPr id="12" name="Text 10"/>
          <p:cNvSpPr/>
          <p:nvPr/>
        </p:nvSpPr>
        <p:spPr>
          <a:xfrm>
            <a:off x="4480560" y="3337560"/>
            <a:ext cx="3291840" cy="64008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Role permissions for Owner / VP / Section Director / HR</a:t>
            </a:r>
            <a:endParaRPr lang="en-US" sz="1300" dirty="0"/>
          </a:p>
        </p:txBody>
      </p:sp>
      <p:sp>
        <p:nvSpPr>
          <p:cNvPr id="13" name="Shape 11"/>
          <p:cNvSpPr/>
          <p:nvPr/>
        </p:nvSpPr>
        <p:spPr>
          <a:xfrm>
            <a:off x="8138160" y="2651760"/>
            <a:ext cx="3657600" cy="1508760"/>
          </a:xfrm>
          <a:prstGeom prst="roundRect">
            <a:avLst>
              <a:gd name="adj" fmla="val 6061"/>
            </a:avLst>
          </a:prstGeom>
          <a:solidFill>
            <a:srgbClr val="F1F5F9"/>
          </a:solidFill>
          <a:ln/>
        </p:spPr>
      </p:sp>
      <p:sp>
        <p:nvSpPr>
          <p:cNvPr id="14" name="Text 12"/>
          <p:cNvSpPr/>
          <p:nvPr/>
        </p:nvSpPr>
        <p:spPr>
          <a:xfrm>
            <a:off x="8321040" y="2880360"/>
            <a:ext cx="3291840" cy="365760"/>
          </a:xfrm>
          <a:prstGeom prst="rect">
            <a:avLst/>
          </a:prstGeom>
          <a:noFill/>
          <a:ln/>
        </p:spPr>
        <p:txBody>
          <a:bodyPr wrap="square" rtlCol="0" anchor="ctr"/>
          <a:lstStyle/>
          <a:p>
            <a:pPr indent="0" marL="0">
              <a:buNone/>
            </a:pPr>
            <a:r>
              <a:rPr lang="en-US" sz="1500" b="1" dirty="0">
                <a:solidFill>
                  <a:srgbClr val="115E59"/>
                </a:solidFill>
                <a:latin typeface="Calibri" pitchFamily="34" charset="0"/>
                <a:ea typeface="Calibri" pitchFamily="34" charset="-122"/>
                <a:cs typeface="Calibri" pitchFamily="34" charset="-120"/>
              </a:rPr>
              <a:t>Family trust</a:t>
            </a:r>
            <a:endParaRPr lang="en-US" sz="1500" dirty="0"/>
          </a:p>
        </p:txBody>
      </p:sp>
      <p:sp>
        <p:nvSpPr>
          <p:cNvPr id="15" name="Text 13"/>
          <p:cNvSpPr/>
          <p:nvPr/>
        </p:nvSpPr>
        <p:spPr>
          <a:xfrm>
            <a:off x="8321040" y="3337560"/>
            <a:ext cx="3291840" cy="64008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Secure parent link, announcements, results after approval</a:t>
            </a:r>
            <a:endParaRPr lang="en-US" sz="1300" dirty="0"/>
          </a:p>
        </p:txBody>
      </p:sp>
      <p:sp>
        <p:nvSpPr>
          <p:cNvPr id="16" name="Shape 14"/>
          <p:cNvSpPr/>
          <p:nvPr/>
        </p:nvSpPr>
        <p:spPr>
          <a:xfrm>
            <a:off x="457200" y="4343400"/>
            <a:ext cx="3657600" cy="1508760"/>
          </a:xfrm>
          <a:prstGeom prst="roundRect">
            <a:avLst>
              <a:gd name="adj" fmla="val 6061"/>
            </a:avLst>
          </a:prstGeom>
          <a:solidFill>
            <a:srgbClr val="F1F5F9"/>
          </a:solidFill>
          <a:ln/>
        </p:spPr>
      </p:sp>
      <p:sp>
        <p:nvSpPr>
          <p:cNvPr id="17" name="Text 15"/>
          <p:cNvSpPr/>
          <p:nvPr/>
        </p:nvSpPr>
        <p:spPr>
          <a:xfrm>
            <a:off x="640080" y="4572000"/>
            <a:ext cx="3291840" cy="365760"/>
          </a:xfrm>
          <a:prstGeom prst="rect">
            <a:avLst/>
          </a:prstGeom>
          <a:noFill/>
          <a:ln/>
        </p:spPr>
        <p:txBody>
          <a:bodyPr wrap="square" rtlCol="0" anchor="ctr"/>
          <a:lstStyle/>
          <a:p>
            <a:pPr indent="0" marL="0">
              <a:buNone/>
            </a:pPr>
            <a:r>
              <a:rPr lang="en-US" sz="1500" b="1" dirty="0">
                <a:solidFill>
                  <a:srgbClr val="115E59"/>
                </a:solidFill>
                <a:latin typeface="Calibri" pitchFamily="34" charset="0"/>
                <a:ea typeface="Calibri" pitchFamily="34" charset="-122"/>
                <a:cs typeface="Calibri" pitchFamily="34" charset="-120"/>
              </a:rPr>
              <a:t>Campus logistics</a:t>
            </a:r>
            <a:endParaRPr lang="en-US" sz="1500" dirty="0"/>
          </a:p>
        </p:txBody>
      </p:sp>
      <p:sp>
        <p:nvSpPr>
          <p:cNvPr id="18" name="Text 16"/>
          <p:cNvSpPr/>
          <p:nvPr/>
        </p:nvSpPr>
        <p:spPr>
          <a:xfrm>
            <a:off x="640080" y="5029200"/>
            <a:ext cx="3291840" cy="64008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Bus assignment + live location for peace of mind</a:t>
            </a:r>
            <a:endParaRPr lang="en-US" sz="1300" dirty="0"/>
          </a:p>
        </p:txBody>
      </p:sp>
      <p:sp>
        <p:nvSpPr>
          <p:cNvPr id="19" name="Shape 17"/>
          <p:cNvSpPr/>
          <p:nvPr/>
        </p:nvSpPr>
        <p:spPr>
          <a:xfrm>
            <a:off x="4297680" y="4343400"/>
            <a:ext cx="3657600" cy="1508760"/>
          </a:xfrm>
          <a:prstGeom prst="roundRect">
            <a:avLst>
              <a:gd name="adj" fmla="val 6061"/>
            </a:avLst>
          </a:prstGeom>
          <a:solidFill>
            <a:srgbClr val="F1F5F9"/>
          </a:solidFill>
          <a:ln/>
        </p:spPr>
      </p:sp>
      <p:sp>
        <p:nvSpPr>
          <p:cNvPr id="20" name="Text 18"/>
          <p:cNvSpPr/>
          <p:nvPr/>
        </p:nvSpPr>
        <p:spPr>
          <a:xfrm>
            <a:off x="4480560" y="4572000"/>
            <a:ext cx="3291840" cy="365760"/>
          </a:xfrm>
          <a:prstGeom prst="rect">
            <a:avLst/>
          </a:prstGeom>
          <a:noFill/>
          <a:ln/>
        </p:spPr>
        <p:txBody>
          <a:bodyPr wrap="square" rtlCol="0" anchor="ctr"/>
          <a:lstStyle/>
          <a:p>
            <a:pPr indent="0" marL="0">
              <a:buNone/>
            </a:pPr>
            <a:r>
              <a:rPr lang="en-US" sz="1500" b="1" dirty="0">
                <a:solidFill>
                  <a:srgbClr val="115E59"/>
                </a:solidFill>
                <a:latin typeface="Calibri" pitchFamily="34" charset="0"/>
                <a:ea typeface="Calibri" pitchFamily="34" charset="-122"/>
                <a:cs typeface="Calibri" pitchFamily="34" charset="-120"/>
              </a:rPr>
              <a:t>School stores</a:t>
            </a:r>
            <a:endParaRPr lang="en-US" sz="1500" dirty="0"/>
          </a:p>
        </p:txBody>
      </p:sp>
      <p:sp>
        <p:nvSpPr>
          <p:cNvPr id="21" name="Text 19"/>
          <p:cNvSpPr/>
          <p:nvPr/>
        </p:nvSpPr>
        <p:spPr>
          <a:xfrm>
            <a:off x="4480560" y="5029200"/>
            <a:ext cx="3291840" cy="64008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Inventory &amp; procurement — not a second vendor</a:t>
            </a:r>
            <a:endParaRPr lang="en-US" sz="1300" dirty="0"/>
          </a:p>
        </p:txBody>
      </p:sp>
      <p:sp>
        <p:nvSpPr>
          <p:cNvPr id="22" name="Shape 20"/>
          <p:cNvSpPr/>
          <p:nvPr/>
        </p:nvSpPr>
        <p:spPr>
          <a:xfrm>
            <a:off x="8138160" y="4343400"/>
            <a:ext cx="3657600" cy="1508760"/>
          </a:xfrm>
          <a:prstGeom prst="roundRect">
            <a:avLst>
              <a:gd name="adj" fmla="val 6061"/>
            </a:avLst>
          </a:prstGeom>
          <a:solidFill>
            <a:srgbClr val="F1F5F9"/>
          </a:solidFill>
          <a:ln/>
        </p:spPr>
      </p:sp>
      <p:sp>
        <p:nvSpPr>
          <p:cNvPr id="23" name="Text 21"/>
          <p:cNvSpPr/>
          <p:nvPr/>
        </p:nvSpPr>
        <p:spPr>
          <a:xfrm>
            <a:off x="8321040" y="4572000"/>
            <a:ext cx="3291840" cy="365760"/>
          </a:xfrm>
          <a:prstGeom prst="rect">
            <a:avLst/>
          </a:prstGeom>
          <a:noFill/>
          <a:ln/>
        </p:spPr>
        <p:txBody>
          <a:bodyPr wrap="square" rtlCol="0" anchor="ctr"/>
          <a:lstStyle/>
          <a:p>
            <a:pPr indent="0" marL="0">
              <a:buNone/>
            </a:pPr>
            <a:r>
              <a:rPr lang="en-US" sz="1500" b="1" dirty="0">
                <a:solidFill>
                  <a:srgbClr val="115E59"/>
                </a:solidFill>
                <a:latin typeface="Calibri" pitchFamily="34" charset="0"/>
                <a:ea typeface="Calibri" pitchFamily="34" charset="-122"/>
                <a:cs typeface="Calibri" pitchFamily="34" charset="-120"/>
              </a:rPr>
              <a:t>Local readiness</a:t>
            </a:r>
            <a:endParaRPr lang="en-US" sz="1500" dirty="0"/>
          </a:p>
        </p:txBody>
      </p:sp>
      <p:sp>
        <p:nvSpPr>
          <p:cNvPr id="24" name="Text 22"/>
          <p:cNvSpPr/>
          <p:nvPr/>
        </p:nvSpPr>
        <p:spPr>
          <a:xfrm>
            <a:off x="8321040" y="5029200"/>
            <a:ext cx="3291840" cy="64008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Web ERP now · EN/አማርኛ/Afaan Oromo · local support</a:t>
            </a:r>
            <a:endParaRPr lang="en-US" sz="1300" dirty="0"/>
          </a:p>
        </p:txBody>
      </p:sp>
      <p:sp>
        <p:nvSpPr>
          <p:cNvPr id="25" name="Text 23"/>
          <p:cNvSpPr/>
          <p:nvPr/>
        </p:nvSpPr>
        <p:spPr>
          <a:xfrm>
            <a:off x="365760" y="6537960"/>
            <a:ext cx="9601200" cy="22860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MayaBela · Confidential · School leadership briefing</a:t>
            </a:r>
            <a:endParaRPr lang="en-US" sz="900" dirty="0"/>
          </a:p>
        </p:txBody>
      </p:sp>
      <p:sp>
        <p:nvSpPr>
          <p:cNvPr id="26" name="Text 24"/>
          <p:cNvSpPr/>
          <p:nvPr/>
        </p:nvSpPr>
        <p:spPr>
          <a:xfrm>
            <a:off x="10789920" y="6537960"/>
            <a:ext cx="914400" cy="22860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F766E"/>
          </a:solidFill>
          <a:ln/>
        </p:spPr>
      </p:sp>
      <p:sp>
        <p:nvSpPr>
          <p:cNvPr id="3" name="Text 1"/>
          <p:cNvSpPr/>
          <p:nvPr/>
        </p:nvSpPr>
        <p:spPr>
          <a:xfrm>
            <a:off x="411480" y="164592"/>
            <a:ext cx="11338560" cy="36576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Quality is not a slogan — it is workflow</a:t>
            </a:r>
            <a:endParaRPr lang="en-US" sz="2200" dirty="0"/>
          </a:p>
        </p:txBody>
      </p:sp>
      <p:sp>
        <p:nvSpPr>
          <p:cNvPr id="4" name="Text 2"/>
          <p:cNvSpPr/>
          <p:nvPr/>
        </p:nvSpPr>
        <p:spPr>
          <a:xfrm>
            <a:off x="411480" y="530352"/>
            <a:ext cx="11338560" cy="292608"/>
          </a:xfrm>
          <a:prstGeom prst="rect">
            <a:avLst/>
          </a:prstGeom>
          <a:noFill/>
          <a:ln/>
        </p:spPr>
        <p:txBody>
          <a:bodyPr wrap="square" rtlCol="0" anchor="ctr"/>
          <a:lstStyle/>
          <a:p>
            <a:pPr indent="0" marL="0">
              <a:buNone/>
            </a:pPr>
            <a:r>
              <a:rPr lang="en-US" sz="1200" dirty="0">
                <a:solidFill>
                  <a:srgbClr val="CCFBF1"/>
                </a:solidFill>
                <a:latin typeface="Calibri" pitchFamily="34" charset="0"/>
                <a:ea typeface="Calibri" pitchFamily="34" charset="-122"/>
                <a:cs typeface="Calibri" pitchFamily="34" charset="-120"/>
              </a:rPr>
              <a:t>How MayaBela protects your school’s reputation</a:t>
            </a:r>
            <a:endParaRPr lang="en-US" sz="1200" dirty="0"/>
          </a:p>
        </p:txBody>
      </p:sp>
      <p:sp>
        <p:nvSpPr>
          <p:cNvPr id="5" name="Shape 3"/>
          <p:cNvSpPr/>
          <p:nvPr/>
        </p:nvSpPr>
        <p:spPr>
          <a:xfrm>
            <a:off x="502920" y="1280160"/>
            <a:ext cx="640080" cy="640080"/>
          </a:xfrm>
          <a:prstGeom prst="ellipse">
            <a:avLst/>
          </a:prstGeom>
          <a:solidFill>
            <a:srgbClr val="0F766E"/>
          </a:solidFill>
          <a:ln/>
        </p:spPr>
      </p:sp>
      <p:sp>
        <p:nvSpPr>
          <p:cNvPr id="6" name="Text 4"/>
          <p:cNvSpPr/>
          <p:nvPr/>
        </p:nvSpPr>
        <p:spPr>
          <a:xfrm>
            <a:off x="502920" y="1399032"/>
            <a:ext cx="640080" cy="41148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371600" y="1143000"/>
            <a:ext cx="10058400" cy="36576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Authority before publication</a:t>
            </a:r>
            <a:endParaRPr lang="en-US" sz="1600" dirty="0"/>
          </a:p>
        </p:txBody>
      </p:sp>
      <p:sp>
        <p:nvSpPr>
          <p:cNvPr id="8" name="Text 6"/>
          <p:cNvSpPr/>
          <p:nvPr/>
        </p:nvSpPr>
        <p:spPr>
          <a:xfrm>
            <a:off x="1371600" y="1554480"/>
            <a:ext cx="10058400" cy="640080"/>
          </a:xfrm>
          <a:prstGeom prst="rect">
            <a:avLst/>
          </a:prstGeom>
          <a:noFill/>
          <a:ln/>
        </p:spPr>
        <p:txBody>
          <a:bodyPr wrap="square" rtlCol="0" anchor="ctr"/>
          <a:lstStyle/>
          <a:p>
            <a:pPr indent="0" marL="0">
              <a:buNone/>
            </a:pPr>
            <a:r>
              <a:rPr lang="en-US" sz="1400" dirty="0">
                <a:solidFill>
                  <a:srgbClr val="475569"/>
                </a:solidFill>
                <a:latin typeface="Calibri" pitchFamily="34" charset="0"/>
                <a:ea typeface="Calibri" pitchFamily="34" charset="-122"/>
                <a:cs typeface="Calibri" pitchFamily="34" charset="-120"/>
              </a:rPr>
              <a:t>Teachers enter grades. Leadership approves. Only then parents see results. Fewer disputes. Stronger academic brand.</a:t>
            </a:r>
            <a:endParaRPr lang="en-US" sz="1400" dirty="0"/>
          </a:p>
        </p:txBody>
      </p:sp>
      <p:sp>
        <p:nvSpPr>
          <p:cNvPr id="9" name="Shape 7"/>
          <p:cNvSpPr/>
          <p:nvPr/>
        </p:nvSpPr>
        <p:spPr>
          <a:xfrm>
            <a:off x="502920" y="2514600"/>
            <a:ext cx="640080" cy="640080"/>
          </a:xfrm>
          <a:prstGeom prst="ellipse">
            <a:avLst/>
          </a:prstGeom>
          <a:solidFill>
            <a:srgbClr val="0F766E"/>
          </a:solidFill>
          <a:ln/>
        </p:spPr>
      </p:sp>
      <p:sp>
        <p:nvSpPr>
          <p:cNvPr id="10" name="Text 8"/>
          <p:cNvSpPr/>
          <p:nvPr/>
        </p:nvSpPr>
        <p:spPr>
          <a:xfrm>
            <a:off x="502920" y="2633472"/>
            <a:ext cx="640080" cy="41148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1371600" y="2377440"/>
            <a:ext cx="10058400" cy="36576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Right person, right screen</a:t>
            </a:r>
            <a:endParaRPr lang="en-US" sz="1600" dirty="0"/>
          </a:p>
        </p:txBody>
      </p:sp>
      <p:sp>
        <p:nvSpPr>
          <p:cNvPr id="12" name="Text 10"/>
          <p:cNvSpPr/>
          <p:nvPr/>
        </p:nvSpPr>
        <p:spPr>
          <a:xfrm>
            <a:off x="1371600" y="2788920"/>
            <a:ext cx="10058400" cy="640080"/>
          </a:xfrm>
          <a:prstGeom prst="rect">
            <a:avLst/>
          </a:prstGeom>
          <a:noFill/>
          <a:ln/>
        </p:spPr>
        <p:txBody>
          <a:bodyPr wrap="square" rtlCol="0" anchor="ctr"/>
          <a:lstStyle/>
          <a:p>
            <a:pPr indent="0" marL="0">
              <a:buNone/>
            </a:pPr>
            <a:r>
              <a:rPr lang="en-US" sz="1400" dirty="0">
                <a:solidFill>
                  <a:srgbClr val="475569"/>
                </a:solidFill>
                <a:latin typeface="Calibri" pitchFamily="34" charset="0"/>
                <a:ea typeface="Calibri" pitchFamily="34" charset="-122"/>
                <a:cs typeface="Calibri" pitchFamily="34" charset="-120"/>
              </a:rPr>
              <a:t>EDUABA-style permissions: finance, inventory, transfers, academics — separated by role, not by shared passwords.</a:t>
            </a:r>
            <a:endParaRPr lang="en-US" sz="1400" dirty="0"/>
          </a:p>
        </p:txBody>
      </p:sp>
      <p:sp>
        <p:nvSpPr>
          <p:cNvPr id="13" name="Shape 11"/>
          <p:cNvSpPr/>
          <p:nvPr/>
        </p:nvSpPr>
        <p:spPr>
          <a:xfrm>
            <a:off x="502920" y="3749040"/>
            <a:ext cx="640080" cy="640080"/>
          </a:xfrm>
          <a:prstGeom prst="ellipse">
            <a:avLst/>
          </a:prstGeom>
          <a:solidFill>
            <a:srgbClr val="0F766E"/>
          </a:solidFill>
          <a:ln/>
        </p:spPr>
      </p:sp>
      <p:sp>
        <p:nvSpPr>
          <p:cNvPr id="14" name="Text 12"/>
          <p:cNvSpPr/>
          <p:nvPr/>
        </p:nvSpPr>
        <p:spPr>
          <a:xfrm>
            <a:off x="502920" y="3867912"/>
            <a:ext cx="640080" cy="41148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p:nvPr/>
        </p:nvSpPr>
        <p:spPr>
          <a:xfrm>
            <a:off x="1371600" y="3611880"/>
            <a:ext cx="10058400" cy="36576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School boundary in the cloud</a:t>
            </a:r>
            <a:endParaRPr lang="en-US" sz="1600" dirty="0"/>
          </a:p>
        </p:txBody>
      </p:sp>
      <p:sp>
        <p:nvSpPr>
          <p:cNvPr id="16" name="Text 14"/>
          <p:cNvSpPr/>
          <p:nvPr/>
        </p:nvSpPr>
        <p:spPr>
          <a:xfrm>
            <a:off x="1371600" y="4023360"/>
            <a:ext cx="10058400" cy="640080"/>
          </a:xfrm>
          <a:prstGeom prst="rect">
            <a:avLst/>
          </a:prstGeom>
          <a:noFill/>
          <a:ln/>
        </p:spPr>
        <p:txBody>
          <a:bodyPr wrap="square" rtlCol="0" anchor="ctr"/>
          <a:lstStyle/>
          <a:p>
            <a:pPr indent="0" marL="0">
              <a:buNone/>
            </a:pPr>
            <a:r>
              <a:rPr lang="en-US" sz="1400" dirty="0">
                <a:solidFill>
                  <a:srgbClr val="475569"/>
                </a:solidFill>
                <a:latin typeface="Calibri" pitchFamily="34" charset="0"/>
                <a:ea typeface="Calibri" pitchFamily="34" charset="-122"/>
                <a:cs typeface="Calibri" pitchFamily="34" charset="-120"/>
              </a:rPr>
              <a:t>Each school’s data is isolated. Your records are not mixed with another institution’s chaos.</a:t>
            </a:r>
            <a:endParaRPr lang="en-US" sz="1400" dirty="0"/>
          </a:p>
        </p:txBody>
      </p:sp>
      <p:sp>
        <p:nvSpPr>
          <p:cNvPr id="17" name="Shape 15"/>
          <p:cNvSpPr/>
          <p:nvPr/>
        </p:nvSpPr>
        <p:spPr>
          <a:xfrm>
            <a:off x="502920" y="4983480"/>
            <a:ext cx="640080" cy="640080"/>
          </a:xfrm>
          <a:prstGeom prst="ellipse">
            <a:avLst/>
          </a:prstGeom>
          <a:solidFill>
            <a:srgbClr val="0F766E"/>
          </a:solidFill>
          <a:ln/>
        </p:spPr>
      </p:sp>
      <p:sp>
        <p:nvSpPr>
          <p:cNvPr id="18" name="Text 16"/>
          <p:cNvSpPr/>
          <p:nvPr/>
        </p:nvSpPr>
        <p:spPr>
          <a:xfrm>
            <a:off x="502920" y="5102352"/>
            <a:ext cx="640080" cy="41148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9" name="Text 17"/>
          <p:cNvSpPr/>
          <p:nvPr/>
        </p:nvSpPr>
        <p:spPr>
          <a:xfrm>
            <a:off x="1371600" y="4846320"/>
            <a:ext cx="10058400" cy="36576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Evidence, not opinion</a:t>
            </a:r>
            <a:endParaRPr lang="en-US" sz="1600" dirty="0"/>
          </a:p>
        </p:txBody>
      </p:sp>
      <p:sp>
        <p:nvSpPr>
          <p:cNvPr id="20" name="Text 18"/>
          <p:cNvSpPr/>
          <p:nvPr/>
        </p:nvSpPr>
        <p:spPr>
          <a:xfrm>
            <a:off x="1371600" y="5257800"/>
            <a:ext cx="10058400" cy="640080"/>
          </a:xfrm>
          <a:prstGeom prst="rect">
            <a:avLst/>
          </a:prstGeom>
          <a:noFill/>
          <a:ln/>
        </p:spPr>
        <p:txBody>
          <a:bodyPr wrap="square" rtlCol="0" anchor="ctr"/>
          <a:lstStyle/>
          <a:p>
            <a:pPr indent="0" marL="0">
              <a:buNone/>
            </a:pPr>
            <a:r>
              <a:rPr lang="en-US" sz="1400" dirty="0">
                <a:solidFill>
                  <a:srgbClr val="475569"/>
                </a:solidFill>
                <a:latin typeface="Calibri" pitchFamily="34" charset="0"/>
                <a:ea typeface="Calibri" pitchFamily="34" charset="-122"/>
                <a:cs typeface="Calibri" pitchFamily="34" charset="-120"/>
              </a:rPr>
              <a:t>Export reports (Excel / CSV / PDF). Decisions for board meetings start from one system of record.</a:t>
            </a:r>
            <a:endParaRPr lang="en-US" sz="1400" dirty="0"/>
          </a:p>
        </p:txBody>
      </p:sp>
      <p:sp>
        <p:nvSpPr>
          <p:cNvPr id="21" name="Text 19"/>
          <p:cNvSpPr/>
          <p:nvPr/>
        </p:nvSpPr>
        <p:spPr>
          <a:xfrm>
            <a:off x="365760" y="6537960"/>
            <a:ext cx="9601200" cy="22860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MayaBela · Confidential · School leadership briefing</a:t>
            </a:r>
            <a:endParaRPr lang="en-US" sz="900" dirty="0"/>
          </a:p>
        </p:txBody>
      </p:sp>
      <p:sp>
        <p:nvSpPr>
          <p:cNvPr id="22" name="Text 20"/>
          <p:cNvSpPr/>
          <p:nvPr/>
        </p:nvSpPr>
        <p:spPr>
          <a:xfrm>
            <a:off x="10789920" y="6537960"/>
            <a:ext cx="914400" cy="22860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F766E"/>
          </a:solidFill>
          <a:ln/>
        </p:spPr>
      </p:sp>
      <p:sp>
        <p:nvSpPr>
          <p:cNvPr id="3" name="Text 1"/>
          <p:cNvSpPr/>
          <p:nvPr/>
        </p:nvSpPr>
        <p:spPr>
          <a:xfrm>
            <a:off x="411480" y="164592"/>
            <a:ext cx="11338560" cy="36576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Why schools choose MayaBela over “another school app”</a:t>
            </a:r>
            <a:endParaRPr lang="en-US" sz="2200" dirty="0"/>
          </a:p>
        </p:txBody>
      </p:sp>
      <p:sp>
        <p:nvSpPr>
          <p:cNvPr id="4" name="Text 2"/>
          <p:cNvSpPr/>
          <p:nvPr/>
        </p:nvSpPr>
        <p:spPr>
          <a:xfrm>
            <a:off x="411480" y="530352"/>
            <a:ext cx="11338560" cy="292608"/>
          </a:xfrm>
          <a:prstGeom prst="rect">
            <a:avLst/>
          </a:prstGeom>
          <a:noFill/>
          <a:ln/>
        </p:spPr>
        <p:txBody>
          <a:bodyPr wrap="square" rtlCol="0" anchor="ctr"/>
          <a:lstStyle/>
          <a:p>
            <a:pPr indent="0" marL="0">
              <a:buNone/>
            </a:pPr>
            <a:r>
              <a:rPr lang="en-US" sz="1200" dirty="0">
                <a:solidFill>
                  <a:srgbClr val="CCFBF1"/>
                </a:solidFill>
                <a:latin typeface="Calibri" pitchFamily="34" charset="0"/>
                <a:ea typeface="Calibri" pitchFamily="34" charset="-122"/>
                <a:cs typeface="Calibri" pitchFamily="34" charset="-120"/>
              </a:rPr>
              <a:t>Five differentiators to remember</a:t>
            </a:r>
            <a:endParaRPr lang="en-US" sz="1200" dirty="0"/>
          </a:p>
        </p:txBody>
      </p:sp>
      <p:sp>
        <p:nvSpPr>
          <p:cNvPr id="5" name="Shape 3"/>
          <p:cNvSpPr/>
          <p:nvPr/>
        </p:nvSpPr>
        <p:spPr>
          <a:xfrm>
            <a:off x="457200" y="1188720"/>
            <a:ext cx="11247120" cy="822960"/>
          </a:xfrm>
          <a:prstGeom prst="roundRect">
            <a:avLst>
              <a:gd name="adj" fmla="val 8889"/>
            </a:avLst>
          </a:prstGeom>
          <a:solidFill>
            <a:srgbClr val="FFFFFF"/>
          </a:solidFill>
          <a:ln w="12700">
            <a:solidFill>
              <a:srgbClr val="CBD5E1"/>
            </a:solidFill>
            <a:prstDash val="solid"/>
          </a:ln>
        </p:spPr>
      </p:sp>
      <p:sp>
        <p:nvSpPr>
          <p:cNvPr id="6" name="Text 4"/>
          <p:cNvSpPr/>
          <p:nvPr/>
        </p:nvSpPr>
        <p:spPr>
          <a:xfrm>
            <a:off x="731520" y="1298448"/>
            <a:ext cx="10698480" cy="320040"/>
          </a:xfrm>
          <a:prstGeom prst="rect">
            <a:avLst/>
          </a:prstGeom>
          <a:noFill/>
          <a:ln/>
        </p:spPr>
        <p:txBody>
          <a:bodyPr wrap="square" rtlCol="0" anchor="ctr"/>
          <a:lstStyle/>
          <a:p>
            <a:pPr indent="0" marL="0">
              <a:buNone/>
            </a:pPr>
            <a:r>
              <a:rPr lang="en-US" sz="1600" b="1" dirty="0">
                <a:solidFill>
                  <a:srgbClr val="115E59"/>
                </a:solidFill>
                <a:latin typeface="Calibri" pitchFamily="34" charset="0"/>
                <a:ea typeface="Calibri" pitchFamily="34" charset="-122"/>
                <a:cs typeface="Calibri" pitchFamily="34" charset="-120"/>
              </a:rPr>
              <a:t>1.  Governance-first ERP</a:t>
            </a:r>
            <a:endParaRPr lang="en-US" sz="1600" dirty="0"/>
          </a:p>
        </p:txBody>
      </p:sp>
      <p:sp>
        <p:nvSpPr>
          <p:cNvPr id="7" name="Text 5"/>
          <p:cNvSpPr/>
          <p:nvPr/>
        </p:nvSpPr>
        <p:spPr>
          <a:xfrm>
            <a:off x="731520" y="1627632"/>
            <a:ext cx="10698480" cy="27432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Built for owners &amp; deputies — not only registrars.</a:t>
            </a:r>
            <a:endParaRPr lang="en-US" sz="1300" dirty="0"/>
          </a:p>
        </p:txBody>
      </p:sp>
      <p:sp>
        <p:nvSpPr>
          <p:cNvPr id="8" name="Shape 6"/>
          <p:cNvSpPr/>
          <p:nvPr/>
        </p:nvSpPr>
        <p:spPr>
          <a:xfrm>
            <a:off x="457200" y="2148840"/>
            <a:ext cx="11247120" cy="822960"/>
          </a:xfrm>
          <a:prstGeom prst="roundRect">
            <a:avLst>
              <a:gd name="adj" fmla="val 8889"/>
            </a:avLst>
          </a:prstGeom>
          <a:solidFill>
            <a:srgbClr val="F1F5F9"/>
          </a:solidFill>
          <a:ln w="12700">
            <a:solidFill>
              <a:srgbClr val="CBD5E1"/>
            </a:solidFill>
            <a:prstDash val="solid"/>
          </a:ln>
        </p:spPr>
      </p:sp>
      <p:sp>
        <p:nvSpPr>
          <p:cNvPr id="9" name="Text 7"/>
          <p:cNvSpPr/>
          <p:nvPr/>
        </p:nvSpPr>
        <p:spPr>
          <a:xfrm>
            <a:off x="731520" y="2258568"/>
            <a:ext cx="10698480" cy="320040"/>
          </a:xfrm>
          <a:prstGeom prst="rect">
            <a:avLst/>
          </a:prstGeom>
          <a:noFill/>
          <a:ln/>
        </p:spPr>
        <p:txBody>
          <a:bodyPr wrap="square" rtlCol="0" anchor="ctr"/>
          <a:lstStyle/>
          <a:p>
            <a:pPr indent="0" marL="0">
              <a:buNone/>
            </a:pPr>
            <a:r>
              <a:rPr lang="en-US" sz="1600" b="1" dirty="0">
                <a:solidFill>
                  <a:srgbClr val="115E59"/>
                </a:solidFill>
                <a:latin typeface="Calibri" pitchFamily="34" charset="0"/>
                <a:ea typeface="Calibri" pitchFamily="34" charset="-122"/>
                <a:cs typeface="Calibri" pitchFamily="34" charset="-120"/>
              </a:rPr>
              <a:t>2.  Trust loop with parents</a:t>
            </a:r>
            <a:endParaRPr lang="en-US" sz="1600" dirty="0"/>
          </a:p>
        </p:txBody>
      </p:sp>
      <p:sp>
        <p:nvSpPr>
          <p:cNvPr id="10" name="Text 8"/>
          <p:cNvSpPr/>
          <p:nvPr/>
        </p:nvSpPr>
        <p:spPr>
          <a:xfrm>
            <a:off x="731520" y="2587752"/>
            <a:ext cx="10698480" cy="27432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Approved grades + clear communication channels.</a:t>
            </a:r>
            <a:endParaRPr lang="en-US" sz="1300" dirty="0"/>
          </a:p>
        </p:txBody>
      </p:sp>
      <p:sp>
        <p:nvSpPr>
          <p:cNvPr id="11" name="Shape 9"/>
          <p:cNvSpPr/>
          <p:nvPr/>
        </p:nvSpPr>
        <p:spPr>
          <a:xfrm>
            <a:off x="457200" y="3108960"/>
            <a:ext cx="11247120" cy="822960"/>
          </a:xfrm>
          <a:prstGeom prst="roundRect">
            <a:avLst>
              <a:gd name="adj" fmla="val 8889"/>
            </a:avLst>
          </a:prstGeom>
          <a:solidFill>
            <a:srgbClr val="FFFFFF"/>
          </a:solidFill>
          <a:ln w="12700">
            <a:solidFill>
              <a:srgbClr val="CBD5E1"/>
            </a:solidFill>
            <a:prstDash val="solid"/>
          </a:ln>
        </p:spPr>
      </p:sp>
      <p:sp>
        <p:nvSpPr>
          <p:cNvPr id="12" name="Text 10"/>
          <p:cNvSpPr/>
          <p:nvPr/>
        </p:nvSpPr>
        <p:spPr>
          <a:xfrm>
            <a:off x="731520" y="3218688"/>
            <a:ext cx="10698480" cy="320040"/>
          </a:xfrm>
          <a:prstGeom prst="rect">
            <a:avLst/>
          </a:prstGeom>
          <a:noFill/>
          <a:ln/>
        </p:spPr>
        <p:txBody>
          <a:bodyPr wrap="square" rtlCol="0" anchor="ctr"/>
          <a:lstStyle/>
          <a:p>
            <a:pPr indent="0" marL="0">
              <a:buNone/>
            </a:pPr>
            <a:r>
              <a:rPr lang="en-US" sz="1600" b="1" dirty="0">
                <a:solidFill>
                  <a:srgbClr val="115E59"/>
                </a:solidFill>
                <a:latin typeface="Calibri" pitchFamily="34" charset="0"/>
                <a:ea typeface="Calibri" pitchFamily="34" charset="-122"/>
                <a:cs typeface="Calibri" pitchFamily="34" charset="-120"/>
              </a:rPr>
              <a:t>3.  Transport as a product</a:t>
            </a:r>
            <a:endParaRPr lang="en-US" sz="1600" dirty="0"/>
          </a:p>
        </p:txBody>
      </p:sp>
      <p:sp>
        <p:nvSpPr>
          <p:cNvPr id="13" name="Text 11"/>
          <p:cNvSpPr/>
          <p:nvPr/>
        </p:nvSpPr>
        <p:spPr>
          <a:xfrm>
            <a:off x="731520" y="3547872"/>
            <a:ext cx="10698480" cy="27432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Drivers and live bus — rare in local SMS suites.</a:t>
            </a:r>
            <a:endParaRPr lang="en-US" sz="1300" dirty="0"/>
          </a:p>
        </p:txBody>
      </p:sp>
      <p:sp>
        <p:nvSpPr>
          <p:cNvPr id="14" name="Shape 12"/>
          <p:cNvSpPr/>
          <p:nvPr/>
        </p:nvSpPr>
        <p:spPr>
          <a:xfrm>
            <a:off x="457200" y="4069080"/>
            <a:ext cx="11247120" cy="822960"/>
          </a:xfrm>
          <a:prstGeom prst="roundRect">
            <a:avLst>
              <a:gd name="adj" fmla="val 8889"/>
            </a:avLst>
          </a:prstGeom>
          <a:solidFill>
            <a:srgbClr val="F1F5F9"/>
          </a:solidFill>
          <a:ln w="12700">
            <a:solidFill>
              <a:srgbClr val="CBD5E1"/>
            </a:solidFill>
            <a:prstDash val="solid"/>
          </a:ln>
        </p:spPr>
      </p:sp>
      <p:sp>
        <p:nvSpPr>
          <p:cNvPr id="15" name="Text 13"/>
          <p:cNvSpPr/>
          <p:nvPr/>
        </p:nvSpPr>
        <p:spPr>
          <a:xfrm>
            <a:off x="731520" y="4178808"/>
            <a:ext cx="10698480" cy="320040"/>
          </a:xfrm>
          <a:prstGeom prst="rect">
            <a:avLst/>
          </a:prstGeom>
          <a:noFill/>
          <a:ln/>
        </p:spPr>
        <p:txBody>
          <a:bodyPr wrap="square" rtlCol="0" anchor="ctr"/>
          <a:lstStyle/>
          <a:p>
            <a:pPr indent="0" marL="0">
              <a:buNone/>
            </a:pPr>
            <a:r>
              <a:rPr lang="en-US" sz="1600" b="1" dirty="0">
                <a:solidFill>
                  <a:srgbClr val="115E59"/>
                </a:solidFill>
                <a:latin typeface="Calibri" pitchFamily="34" charset="0"/>
                <a:ea typeface="Calibri" pitchFamily="34" charset="-122"/>
                <a:cs typeface="Calibri" pitchFamily="34" charset="-120"/>
              </a:rPr>
              <a:t>4.  Ops under one roof</a:t>
            </a:r>
            <a:endParaRPr lang="en-US" sz="1600" dirty="0"/>
          </a:p>
        </p:txBody>
      </p:sp>
      <p:sp>
        <p:nvSpPr>
          <p:cNvPr id="16" name="Text 14"/>
          <p:cNvSpPr/>
          <p:nvPr/>
        </p:nvSpPr>
        <p:spPr>
          <a:xfrm>
            <a:off x="731520" y="4507992"/>
            <a:ext cx="10698480" cy="27432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Inventory &amp; procurement with academics — fewer vendors.</a:t>
            </a:r>
            <a:endParaRPr lang="en-US" sz="1300" dirty="0"/>
          </a:p>
        </p:txBody>
      </p:sp>
      <p:sp>
        <p:nvSpPr>
          <p:cNvPr id="17" name="Shape 15"/>
          <p:cNvSpPr/>
          <p:nvPr/>
        </p:nvSpPr>
        <p:spPr>
          <a:xfrm>
            <a:off x="457200" y="5029200"/>
            <a:ext cx="11247120" cy="822960"/>
          </a:xfrm>
          <a:prstGeom prst="roundRect">
            <a:avLst>
              <a:gd name="adj" fmla="val 8889"/>
            </a:avLst>
          </a:prstGeom>
          <a:solidFill>
            <a:srgbClr val="FFFFFF"/>
          </a:solidFill>
          <a:ln w="12700">
            <a:solidFill>
              <a:srgbClr val="CBD5E1"/>
            </a:solidFill>
            <a:prstDash val="solid"/>
          </a:ln>
        </p:spPr>
      </p:sp>
      <p:sp>
        <p:nvSpPr>
          <p:cNvPr id="18" name="Text 16"/>
          <p:cNvSpPr/>
          <p:nvPr/>
        </p:nvSpPr>
        <p:spPr>
          <a:xfrm>
            <a:off x="731520" y="5138928"/>
            <a:ext cx="10698480" cy="320040"/>
          </a:xfrm>
          <a:prstGeom prst="rect">
            <a:avLst/>
          </a:prstGeom>
          <a:noFill/>
          <a:ln/>
        </p:spPr>
        <p:txBody>
          <a:bodyPr wrap="square" rtlCol="0" anchor="ctr"/>
          <a:lstStyle/>
          <a:p>
            <a:pPr indent="0" marL="0">
              <a:buNone/>
            </a:pPr>
            <a:r>
              <a:rPr lang="en-US" sz="1600" b="1" dirty="0">
                <a:solidFill>
                  <a:srgbClr val="115E59"/>
                </a:solidFill>
                <a:latin typeface="Calibri" pitchFamily="34" charset="0"/>
                <a:ea typeface="Calibri" pitchFamily="34" charset="-122"/>
                <a:cs typeface="Calibri" pitchFamily="34" charset="-120"/>
              </a:rPr>
              <a:t>5.  Ethiopia-ready UX</a:t>
            </a:r>
            <a:endParaRPr lang="en-US" sz="1600" dirty="0"/>
          </a:p>
        </p:txBody>
      </p:sp>
      <p:sp>
        <p:nvSpPr>
          <p:cNvPr id="19" name="Text 17"/>
          <p:cNvSpPr/>
          <p:nvPr/>
        </p:nvSpPr>
        <p:spPr>
          <a:xfrm>
            <a:off x="731520" y="5468112"/>
            <a:ext cx="10698480" cy="27432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Languages + local support + transparent pilot pricing.</a:t>
            </a:r>
            <a:endParaRPr lang="en-US" sz="1300" dirty="0"/>
          </a:p>
        </p:txBody>
      </p:sp>
      <p:sp>
        <p:nvSpPr>
          <p:cNvPr id="20" name="Text 18"/>
          <p:cNvSpPr/>
          <p:nvPr/>
        </p:nvSpPr>
        <p:spPr>
          <a:xfrm>
            <a:off x="365760" y="6537960"/>
            <a:ext cx="9601200" cy="22860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MayaBela · Confidential · School leadership briefing</a:t>
            </a:r>
            <a:endParaRPr lang="en-US" sz="900" dirty="0"/>
          </a:p>
        </p:txBody>
      </p:sp>
      <p:sp>
        <p:nvSpPr>
          <p:cNvPr id="21" name="Text 19"/>
          <p:cNvSpPr/>
          <p:nvPr/>
        </p:nvSpPr>
        <p:spPr>
          <a:xfrm>
            <a:off x="10789920" y="6537960"/>
            <a:ext cx="914400" cy="22860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F766E"/>
          </a:solidFill>
          <a:ln/>
        </p:spPr>
      </p:sp>
      <p:sp>
        <p:nvSpPr>
          <p:cNvPr id="3" name="Text 1"/>
          <p:cNvSpPr/>
          <p:nvPr/>
        </p:nvSpPr>
        <p:spPr>
          <a:xfrm>
            <a:off x="411480" y="164592"/>
            <a:ext cx="11338560" cy="36576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Simple commercial logic</a:t>
            </a:r>
            <a:endParaRPr lang="en-US" sz="2200" dirty="0"/>
          </a:p>
        </p:txBody>
      </p:sp>
      <p:sp>
        <p:nvSpPr>
          <p:cNvPr id="4" name="Text 2"/>
          <p:cNvSpPr/>
          <p:nvPr/>
        </p:nvSpPr>
        <p:spPr>
          <a:xfrm>
            <a:off x="411480" y="530352"/>
            <a:ext cx="11338560" cy="292608"/>
          </a:xfrm>
          <a:prstGeom prst="rect">
            <a:avLst/>
          </a:prstGeom>
          <a:noFill/>
          <a:ln/>
        </p:spPr>
        <p:txBody>
          <a:bodyPr wrap="square" rtlCol="0" anchor="ctr"/>
          <a:lstStyle/>
          <a:p>
            <a:pPr indent="0" marL="0">
              <a:buNone/>
            </a:pPr>
            <a:r>
              <a:rPr lang="en-US" sz="1200" dirty="0">
                <a:solidFill>
                  <a:srgbClr val="CCFBF1"/>
                </a:solidFill>
                <a:latin typeface="Calibri" pitchFamily="34" charset="0"/>
                <a:ea typeface="Calibri" pitchFamily="34" charset="-122"/>
                <a:cs typeface="Calibri" pitchFamily="34" charset="-120"/>
              </a:rPr>
              <a:t>Clear per-student quote — VAT shown separately</a:t>
            </a:r>
            <a:endParaRPr lang="en-US" sz="1200" dirty="0"/>
          </a:p>
        </p:txBody>
      </p:sp>
      <p:sp>
        <p:nvSpPr>
          <p:cNvPr id="5" name="Shape 3"/>
          <p:cNvSpPr/>
          <p:nvPr/>
        </p:nvSpPr>
        <p:spPr>
          <a:xfrm>
            <a:off x="457200" y="1234440"/>
            <a:ext cx="5486400" cy="4663440"/>
          </a:xfrm>
          <a:prstGeom prst="roundRect">
            <a:avLst>
              <a:gd name="adj" fmla="val 2353"/>
            </a:avLst>
          </a:prstGeom>
          <a:solidFill>
            <a:srgbClr val="F1F5F9"/>
          </a:solidFill>
          <a:ln/>
        </p:spPr>
      </p:sp>
      <p:sp>
        <p:nvSpPr>
          <p:cNvPr id="6" name="Text 4"/>
          <p:cNvSpPr/>
          <p:nvPr/>
        </p:nvSpPr>
        <p:spPr>
          <a:xfrm>
            <a:off x="777240" y="1508760"/>
            <a:ext cx="4846320" cy="365760"/>
          </a:xfrm>
          <a:prstGeom prst="rect">
            <a:avLst/>
          </a:prstGeom>
          <a:noFill/>
          <a:ln/>
        </p:spPr>
        <p:txBody>
          <a:bodyPr wrap="square" rtlCol="0" anchor="ctr"/>
          <a:lstStyle/>
          <a:p>
            <a:pPr indent="0" marL="0">
              <a:buNone/>
            </a:pPr>
            <a:r>
              <a:rPr lang="en-US" sz="1800" b="1" dirty="0">
                <a:solidFill>
                  <a:srgbClr val="115E59"/>
                </a:solidFill>
                <a:latin typeface="Calibri" pitchFamily="34" charset="0"/>
                <a:ea typeface="Calibri" pitchFamily="34" charset="-122"/>
                <a:cs typeface="Calibri" pitchFamily="34" charset="-120"/>
              </a:rPr>
              <a:t>School package rate</a:t>
            </a:r>
            <a:endParaRPr lang="en-US" sz="1800" dirty="0"/>
          </a:p>
        </p:txBody>
      </p:sp>
      <p:sp>
        <p:nvSpPr>
          <p:cNvPr id="7" name="Text 5"/>
          <p:cNvSpPr/>
          <p:nvPr/>
        </p:nvSpPr>
        <p:spPr>
          <a:xfrm>
            <a:off x="777240" y="2057400"/>
            <a:ext cx="4846320" cy="3566160"/>
          </a:xfrm>
          <a:prstGeom prst="rect">
            <a:avLst/>
          </a:prstGeom>
          <a:noFill/>
          <a:ln/>
        </p:spPr>
        <p:txBody>
          <a:bodyPr wrap="square" rtlCol="0" anchor="ctr"/>
          <a:lstStyle/>
          <a:p>
            <a:pPr indent="0" marL="0">
              <a:buNone/>
            </a:pPr>
            <a:r>
              <a:rPr lang="en-US" sz="3000" b="1" dirty="0">
                <a:solidFill>
                  <a:srgbClr val="0F766E"/>
                </a:solidFill>
                <a:latin typeface="Calibri" pitchFamily="34" charset="0"/>
                <a:ea typeface="Calibri" pitchFamily="34" charset="-122"/>
                <a:cs typeface="Calibri" pitchFamily="34" charset="-120"/>
              </a:rPr>
              <a:t>200 – 400 ETB</a:t>
            </a:r>
            <a:pPr indent="0" marL="0">
              <a:buNone/>
            </a:pPr>
            <a:endParaRPr lang="en-US" sz="3000" dirty="0"/>
          </a:p>
          <a:p>
            <a:pPr indent="0" marL="0">
              <a:buNone/>
            </a:pPr>
            <a:r>
              <a:rPr lang="en-US" sz="1600" dirty="0">
                <a:solidFill>
                  <a:srgbClr val="0F172A"/>
                </a:solidFill>
                <a:latin typeface="Calibri" pitchFamily="34" charset="0"/>
                <a:ea typeface="Calibri" pitchFamily="34" charset="-122"/>
                <a:cs typeface="Calibri" pitchFamily="34" charset="-120"/>
              </a:rPr>
              <a:t>per student  +  15% VAT</a:t>
            </a:r>
            <a:endParaRPr lang="en-US" sz="3000" dirty="0"/>
          </a:p>
          <a:p>
            <a:pPr indent="0" marL="0">
              <a:buNone/>
            </a:pPr>
            <a:endParaRPr lang="en-US" sz="3000" dirty="0"/>
          </a:p>
          <a:p>
            <a:pPr indent="0" marL="0">
              <a:buNone/>
            </a:pPr>
            <a:endParaRPr lang="en-US" sz="3000" dirty="0"/>
          </a:p>
          <a:p>
            <a:pPr indent="0" marL="0">
              <a:buNone/>
            </a:pPr>
            <a:r>
              <a:rPr lang="en-US" sz="1400" dirty="0">
                <a:solidFill>
                  <a:srgbClr val="475569"/>
                </a:solidFill>
                <a:latin typeface="Calibri" pitchFamily="34" charset="0"/>
                <a:ea typeface="Calibri" pitchFamily="34" charset="-122"/>
                <a:cs typeface="Calibri" pitchFamily="34" charset="-120"/>
              </a:rPr>
              <a:t>Quoted per active student for the school package.</a:t>
            </a:r>
            <a:endParaRPr lang="en-US" sz="3000" dirty="0"/>
          </a:p>
          <a:p>
            <a:pPr indent="0" marL="0">
              <a:buNone/>
            </a:pPr>
            <a:endParaRPr lang="en-US" sz="3000" dirty="0"/>
          </a:p>
          <a:p>
            <a:pPr indent="0" marL="0">
              <a:buNone/>
            </a:pPr>
            <a:endParaRPr lang="en-US" sz="3000" dirty="0"/>
          </a:p>
          <a:p>
            <a:pPr indent="0" marL="0">
              <a:buNone/>
            </a:pPr>
            <a:r>
              <a:rPr lang="en-US" sz="1400" dirty="0">
                <a:solidFill>
                  <a:srgbClr val="0F172A"/>
                </a:solidFill>
                <a:latin typeface="Calibri" pitchFamily="34" charset="0"/>
                <a:ea typeface="Calibri" pitchFamily="34" charset="-122"/>
                <a:cs typeface="Calibri" pitchFamily="34" charset="-120"/>
              </a:rPr>
              <a:t>Teachers, parents, drivers &amp; staff are not billed per seat.</a:t>
            </a:r>
            <a:endParaRPr lang="en-US" sz="3000" dirty="0"/>
          </a:p>
          <a:p>
            <a:pPr indent="0" marL="0">
              <a:buNone/>
            </a:pPr>
            <a:endParaRPr lang="en-US" sz="3000" dirty="0"/>
          </a:p>
          <a:p>
            <a:pPr indent="0" marL="0">
              <a:buNone/>
            </a:pPr>
            <a:endParaRPr lang="en-US" sz="3000" dirty="0"/>
          </a:p>
          <a:p>
            <a:pPr indent="0" marL="0">
              <a:buNone/>
            </a:pPr>
            <a:r>
              <a:rPr lang="en-US" sz="1400" dirty="0">
                <a:solidFill>
                  <a:srgbClr val="0F172A"/>
                </a:solidFill>
                <a:latin typeface="Calibri" pitchFamily="34" charset="0"/>
                <a:ea typeface="Calibri" pitchFamily="34" charset="-122"/>
                <a:cs typeface="Calibri" pitchFamily="34" charset="-120"/>
              </a:rPr>
              <a:t>Final tier depends on size, campuses &amp; modules.</a:t>
            </a:r>
            <a:endParaRPr lang="en-US" sz="3000" dirty="0"/>
          </a:p>
        </p:txBody>
      </p:sp>
      <p:sp>
        <p:nvSpPr>
          <p:cNvPr id="8" name="Shape 6"/>
          <p:cNvSpPr/>
          <p:nvPr/>
        </p:nvSpPr>
        <p:spPr>
          <a:xfrm>
            <a:off x="6263640" y="1234440"/>
            <a:ext cx="5440680" cy="4663440"/>
          </a:xfrm>
          <a:prstGeom prst="roundRect">
            <a:avLst>
              <a:gd name="adj" fmla="val 2353"/>
            </a:avLst>
          </a:prstGeom>
          <a:solidFill>
            <a:srgbClr val="CCFBF1"/>
          </a:solidFill>
          <a:ln/>
        </p:spPr>
      </p:sp>
      <p:sp>
        <p:nvSpPr>
          <p:cNvPr id="9" name="Text 7"/>
          <p:cNvSpPr/>
          <p:nvPr/>
        </p:nvSpPr>
        <p:spPr>
          <a:xfrm>
            <a:off x="6583680" y="1508760"/>
            <a:ext cx="4846320" cy="365760"/>
          </a:xfrm>
          <a:prstGeom prst="rect">
            <a:avLst/>
          </a:prstGeom>
          <a:noFill/>
          <a:ln/>
        </p:spPr>
        <p:txBody>
          <a:bodyPr wrap="square" rtlCol="0" anchor="ctr"/>
          <a:lstStyle/>
          <a:p>
            <a:pPr indent="0" marL="0">
              <a:buNone/>
            </a:pPr>
            <a:r>
              <a:rPr lang="en-US" sz="1800" b="1" dirty="0">
                <a:solidFill>
                  <a:srgbClr val="115E59"/>
                </a:solidFill>
                <a:latin typeface="Calibri" pitchFamily="34" charset="0"/>
                <a:ea typeface="Calibri" pitchFamily="34" charset="-122"/>
                <a:cs typeface="Calibri" pitchFamily="34" charset="-120"/>
              </a:rPr>
              <a:t>What you get</a:t>
            </a:r>
            <a:endParaRPr lang="en-US" sz="1800" dirty="0"/>
          </a:p>
        </p:txBody>
      </p:sp>
      <p:sp>
        <p:nvSpPr>
          <p:cNvPr id="10" name="Text 8"/>
          <p:cNvSpPr/>
          <p:nvPr/>
        </p:nvSpPr>
        <p:spPr>
          <a:xfrm>
            <a:off x="6583680" y="2103120"/>
            <a:ext cx="4846320" cy="548640"/>
          </a:xfrm>
          <a:prstGeom prst="rect">
            <a:avLst/>
          </a:prstGeom>
          <a:noFill/>
          <a:ln/>
        </p:spPr>
        <p:txBody>
          <a:bodyPr wrap="square" rtlCol="0" anchor="ctr"/>
          <a:lstStyle/>
          <a:p>
            <a:pPr indent="0" marL="0">
              <a:buNone/>
            </a:pPr>
            <a:r>
              <a:rPr lang="en-US" sz="1400" dirty="0">
                <a:solidFill>
                  <a:srgbClr val="0F172A"/>
                </a:solidFill>
                <a:latin typeface="Calibri" pitchFamily="34" charset="0"/>
                <a:ea typeface="Calibri" pitchFamily="34" charset="-122"/>
                <a:cs typeface="Calibri" pitchFamily="34" charset="-120"/>
              </a:rPr>
              <a:t>▸  Web ERP for owners &amp; staff (mayabela.pages.dev)</a:t>
            </a:r>
            <a:endParaRPr lang="en-US" sz="1400" dirty="0"/>
          </a:p>
        </p:txBody>
      </p:sp>
      <p:sp>
        <p:nvSpPr>
          <p:cNvPr id="11" name="Text 9"/>
          <p:cNvSpPr/>
          <p:nvPr/>
        </p:nvSpPr>
        <p:spPr>
          <a:xfrm>
            <a:off x="6583680" y="2743200"/>
            <a:ext cx="4846320" cy="548640"/>
          </a:xfrm>
          <a:prstGeom prst="rect">
            <a:avLst/>
          </a:prstGeom>
          <a:noFill/>
          <a:ln/>
        </p:spPr>
        <p:txBody>
          <a:bodyPr wrap="square" rtlCol="0" anchor="ctr"/>
          <a:lstStyle/>
          <a:p>
            <a:pPr indent="0" marL="0">
              <a:buNone/>
            </a:pPr>
            <a:r>
              <a:rPr lang="en-US" sz="1400" dirty="0">
                <a:solidFill>
                  <a:srgbClr val="0F172A"/>
                </a:solidFill>
                <a:latin typeface="Calibri" pitchFamily="34" charset="0"/>
                <a:ea typeface="Calibri" pitchFamily="34" charset="-122"/>
                <a:cs typeface="Calibri" pitchFamily="34" charset="-120"/>
              </a:rPr>
              <a:t>▸  Role portals for teachers, parents, students, drivers</a:t>
            </a:r>
            <a:endParaRPr lang="en-US" sz="1400" dirty="0"/>
          </a:p>
        </p:txBody>
      </p:sp>
      <p:sp>
        <p:nvSpPr>
          <p:cNvPr id="12" name="Text 10"/>
          <p:cNvSpPr/>
          <p:nvPr/>
        </p:nvSpPr>
        <p:spPr>
          <a:xfrm>
            <a:off x="6583680" y="3383280"/>
            <a:ext cx="4846320" cy="548640"/>
          </a:xfrm>
          <a:prstGeom prst="rect">
            <a:avLst/>
          </a:prstGeom>
          <a:noFill/>
          <a:ln/>
        </p:spPr>
        <p:txBody>
          <a:bodyPr wrap="square" rtlCol="0" anchor="ctr"/>
          <a:lstStyle/>
          <a:p>
            <a:pPr indent="0" marL="0">
              <a:buNone/>
            </a:pPr>
            <a:r>
              <a:rPr lang="en-US" sz="1400" dirty="0">
                <a:solidFill>
                  <a:srgbClr val="0F172A"/>
                </a:solidFill>
                <a:latin typeface="Calibri" pitchFamily="34" charset="0"/>
                <a:ea typeface="Calibri" pitchFamily="34" charset="-122"/>
                <a:cs typeface="Calibri" pitchFamily="34" charset="-120"/>
              </a:rPr>
              <a:t>▸  Onboarding + training support</a:t>
            </a:r>
            <a:endParaRPr lang="en-US" sz="1400" dirty="0"/>
          </a:p>
        </p:txBody>
      </p:sp>
      <p:sp>
        <p:nvSpPr>
          <p:cNvPr id="13" name="Text 11"/>
          <p:cNvSpPr/>
          <p:nvPr/>
        </p:nvSpPr>
        <p:spPr>
          <a:xfrm>
            <a:off x="6583680" y="4023360"/>
            <a:ext cx="4846320" cy="548640"/>
          </a:xfrm>
          <a:prstGeom prst="rect">
            <a:avLst/>
          </a:prstGeom>
          <a:noFill/>
          <a:ln/>
        </p:spPr>
        <p:txBody>
          <a:bodyPr wrap="square" rtlCol="0" anchor="ctr"/>
          <a:lstStyle/>
          <a:p>
            <a:pPr indent="0" marL="0">
              <a:buNone/>
            </a:pPr>
            <a:r>
              <a:rPr lang="en-US" sz="1400" dirty="0">
                <a:solidFill>
                  <a:srgbClr val="0F172A"/>
                </a:solidFill>
                <a:latin typeface="Calibri" pitchFamily="34" charset="0"/>
                <a:ea typeface="Calibri" pitchFamily="34" charset="-122"/>
                <a:cs typeface="Calibri" pitchFamily="34" charset="-120"/>
              </a:rPr>
              <a:t>▸  Pilot path before long commitment</a:t>
            </a:r>
            <a:endParaRPr lang="en-US" sz="1400" dirty="0"/>
          </a:p>
        </p:txBody>
      </p:sp>
      <p:sp>
        <p:nvSpPr>
          <p:cNvPr id="14" name="Text 12"/>
          <p:cNvSpPr/>
          <p:nvPr/>
        </p:nvSpPr>
        <p:spPr>
          <a:xfrm>
            <a:off x="6583680" y="4663440"/>
            <a:ext cx="4846320" cy="548640"/>
          </a:xfrm>
          <a:prstGeom prst="rect">
            <a:avLst/>
          </a:prstGeom>
          <a:noFill/>
          <a:ln/>
        </p:spPr>
        <p:txBody>
          <a:bodyPr wrap="square" rtlCol="0" anchor="ctr"/>
          <a:lstStyle/>
          <a:p>
            <a:pPr indent="0" marL="0">
              <a:buNone/>
            </a:pPr>
            <a:r>
              <a:rPr lang="en-US" sz="1400" dirty="0">
                <a:solidFill>
                  <a:srgbClr val="0F172A"/>
                </a:solidFill>
                <a:latin typeface="Calibri" pitchFamily="34" charset="0"/>
                <a:ea typeface="Calibri" pitchFamily="34" charset="-122"/>
                <a:cs typeface="Calibri" pitchFamily="34" charset="-120"/>
              </a:rPr>
              <a:t>▸  Local WhatsApp/phone support</a:t>
            </a:r>
            <a:endParaRPr lang="en-US" sz="1400" dirty="0"/>
          </a:p>
        </p:txBody>
      </p:sp>
      <p:sp>
        <p:nvSpPr>
          <p:cNvPr id="15" name="Text 13"/>
          <p:cNvSpPr/>
          <p:nvPr/>
        </p:nvSpPr>
        <p:spPr>
          <a:xfrm>
            <a:off x="365760" y="6537960"/>
            <a:ext cx="9601200" cy="22860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MayaBela · Confidential · School leadership briefing</a:t>
            </a:r>
            <a:endParaRPr lang="en-US" sz="900" dirty="0"/>
          </a:p>
        </p:txBody>
      </p:sp>
      <p:sp>
        <p:nvSpPr>
          <p:cNvPr id="16" name="Text 14"/>
          <p:cNvSpPr/>
          <p:nvPr/>
        </p:nvSpPr>
        <p:spPr>
          <a:xfrm>
            <a:off x="10789920" y="6537960"/>
            <a:ext cx="914400" cy="22860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F766E"/>
          </a:solidFill>
          <a:ln/>
        </p:spPr>
      </p:sp>
      <p:sp>
        <p:nvSpPr>
          <p:cNvPr id="3" name="Text 1"/>
          <p:cNvSpPr/>
          <p:nvPr/>
        </p:nvSpPr>
        <p:spPr>
          <a:xfrm>
            <a:off x="411480" y="164592"/>
            <a:ext cx="11338560" cy="36576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Investment quote — per student</a:t>
            </a:r>
            <a:endParaRPr lang="en-US" sz="2200" dirty="0"/>
          </a:p>
        </p:txBody>
      </p:sp>
      <p:sp>
        <p:nvSpPr>
          <p:cNvPr id="4" name="Text 2"/>
          <p:cNvSpPr/>
          <p:nvPr/>
        </p:nvSpPr>
        <p:spPr>
          <a:xfrm>
            <a:off x="411480" y="530352"/>
            <a:ext cx="11338560" cy="292608"/>
          </a:xfrm>
          <a:prstGeom prst="rect">
            <a:avLst/>
          </a:prstGeom>
          <a:noFill/>
          <a:ln/>
        </p:spPr>
        <p:txBody>
          <a:bodyPr wrap="square" rtlCol="0" anchor="ctr"/>
          <a:lstStyle/>
          <a:p>
            <a:pPr indent="0" marL="0">
              <a:buNone/>
            </a:pPr>
            <a:r>
              <a:rPr lang="en-US" sz="1200" dirty="0">
                <a:solidFill>
                  <a:srgbClr val="CCFBF1"/>
                </a:solidFill>
                <a:latin typeface="Calibri" pitchFamily="34" charset="0"/>
                <a:ea typeface="Calibri" pitchFamily="34" charset="-122"/>
                <a:cs typeface="Calibri" pitchFamily="34" charset="-120"/>
              </a:rPr>
              <a:t>200 – 400 ETB + 15% VAT  ·  teachers &amp; parents not charged</a:t>
            </a:r>
            <a:endParaRPr lang="en-US" sz="1200" dirty="0"/>
          </a:p>
        </p:txBody>
      </p:sp>
      <p:sp>
        <p:nvSpPr>
          <p:cNvPr id="5" name="Shape 3"/>
          <p:cNvSpPr/>
          <p:nvPr/>
        </p:nvSpPr>
        <p:spPr>
          <a:xfrm>
            <a:off x="365760" y="1143000"/>
            <a:ext cx="3703320" cy="3246120"/>
          </a:xfrm>
          <a:prstGeom prst="roundRect">
            <a:avLst>
              <a:gd name="adj" fmla="val 3380"/>
            </a:avLst>
          </a:prstGeom>
          <a:solidFill>
            <a:srgbClr val="F1F5F9"/>
          </a:solidFill>
          <a:ln/>
        </p:spPr>
      </p:sp>
      <p:sp>
        <p:nvSpPr>
          <p:cNvPr id="6" name="Text 4"/>
          <p:cNvSpPr/>
          <p:nvPr/>
        </p:nvSpPr>
        <p:spPr>
          <a:xfrm>
            <a:off x="548640" y="1554480"/>
            <a:ext cx="3337560" cy="365760"/>
          </a:xfrm>
          <a:prstGeom prst="rect">
            <a:avLst/>
          </a:prstGeom>
          <a:noFill/>
          <a:ln/>
        </p:spPr>
        <p:txBody>
          <a:bodyPr wrap="square" rtlCol="0" anchor="ctr"/>
          <a:lstStyle/>
          <a:p>
            <a:pPr algn="ctr" indent="0" marL="0">
              <a:buNone/>
            </a:pPr>
            <a:r>
              <a:rPr lang="en-US" sz="1800" b="1" dirty="0">
                <a:solidFill>
                  <a:srgbClr val="115E59"/>
                </a:solidFill>
                <a:latin typeface="Calibri" pitchFamily="34" charset="0"/>
                <a:ea typeface="Calibri" pitchFamily="34" charset="-122"/>
                <a:cs typeface="Calibri" pitchFamily="34" charset="-120"/>
              </a:rPr>
              <a:t>Essential</a:t>
            </a:r>
            <a:endParaRPr lang="en-US" sz="1800" dirty="0"/>
          </a:p>
        </p:txBody>
      </p:sp>
      <p:sp>
        <p:nvSpPr>
          <p:cNvPr id="7" name="Text 5"/>
          <p:cNvSpPr/>
          <p:nvPr/>
        </p:nvSpPr>
        <p:spPr>
          <a:xfrm>
            <a:off x="548640" y="2011680"/>
            <a:ext cx="3337560" cy="411480"/>
          </a:xfrm>
          <a:prstGeom prst="rect">
            <a:avLst/>
          </a:prstGeom>
          <a:noFill/>
          <a:ln/>
        </p:spPr>
        <p:txBody>
          <a:bodyPr wrap="square" rtlCol="0" anchor="ctr"/>
          <a:lstStyle/>
          <a:p>
            <a:pPr algn="ctr" indent="0" marL="0">
              <a:buNone/>
            </a:pPr>
            <a:r>
              <a:rPr lang="en-US" sz="2800" b="1" dirty="0">
                <a:solidFill>
                  <a:srgbClr val="0F766E"/>
                </a:solidFill>
                <a:latin typeface="Calibri" pitchFamily="34" charset="0"/>
                <a:ea typeface="Calibri" pitchFamily="34" charset="-122"/>
                <a:cs typeface="Calibri" pitchFamily="34" charset="-120"/>
              </a:rPr>
              <a:t>200 ETB</a:t>
            </a:r>
            <a:endParaRPr lang="en-US" sz="2800" dirty="0"/>
          </a:p>
        </p:txBody>
      </p:sp>
      <p:sp>
        <p:nvSpPr>
          <p:cNvPr id="8" name="Text 6"/>
          <p:cNvSpPr/>
          <p:nvPr/>
        </p:nvSpPr>
        <p:spPr>
          <a:xfrm>
            <a:off x="548640" y="2468880"/>
            <a:ext cx="3337560" cy="320040"/>
          </a:xfrm>
          <a:prstGeom prst="rect">
            <a:avLst/>
          </a:prstGeom>
          <a:noFill/>
          <a:ln/>
        </p:spPr>
        <p:txBody>
          <a:bodyPr wrap="square" rtlCol="0" anchor="ctr"/>
          <a:lstStyle/>
          <a:p>
            <a:pPr algn="ctr" indent="0" marL="0">
              <a:buNone/>
            </a:pPr>
            <a:r>
              <a:rPr lang="en-US" sz="1300" dirty="0">
                <a:solidFill>
                  <a:srgbClr val="475569"/>
                </a:solidFill>
                <a:latin typeface="Calibri" pitchFamily="34" charset="0"/>
                <a:ea typeface="Calibri" pitchFamily="34" charset="-122"/>
                <a:cs typeface="Calibri" pitchFamily="34" charset="-120"/>
              </a:rPr>
              <a:t>+ VAT 15% = 30 ETB</a:t>
            </a:r>
            <a:endParaRPr lang="en-US" sz="1300" dirty="0"/>
          </a:p>
        </p:txBody>
      </p:sp>
      <p:sp>
        <p:nvSpPr>
          <p:cNvPr id="9" name="Text 7"/>
          <p:cNvSpPr/>
          <p:nvPr/>
        </p:nvSpPr>
        <p:spPr>
          <a:xfrm>
            <a:off x="548640" y="2880360"/>
            <a:ext cx="3337560" cy="365760"/>
          </a:xfrm>
          <a:prstGeom prst="rect">
            <a:avLst/>
          </a:prstGeom>
          <a:noFill/>
          <a:ln/>
        </p:spPr>
        <p:txBody>
          <a:bodyPr wrap="square" rtlCol="0" anchor="ctr"/>
          <a:lstStyle/>
          <a:p>
            <a:pPr algn="ctr" indent="0" marL="0">
              <a:buNone/>
            </a:pPr>
            <a:r>
              <a:rPr lang="en-US" sz="1600" b="1" dirty="0">
                <a:solidFill>
                  <a:srgbClr val="0F172A"/>
                </a:solidFill>
                <a:latin typeface="Calibri" pitchFamily="34" charset="0"/>
                <a:ea typeface="Calibri" pitchFamily="34" charset="-122"/>
                <a:cs typeface="Calibri" pitchFamily="34" charset="-120"/>
              </a:rPr>
              <a:t>230 ETB / student</a:t>
            </a:r>
            <a:endParaRPr lang="en-US" sz="1600" dirty="0"/>
          </a:p>
        </p:txBody>
      </p:sp>
      <p:sp>
        <p:nvSpPr>
          <p:cNvPr id="10" name="Text 8"/>
          <p:cNvSpPr/>
          <p:nvPr/>
        </p:nvSpPr>
        <p:spPr>
          <a:xfrm>
            <a:off x="640080" y="3383280"/>
            <a:ext cx="3154680" cy="777240"/>
          </a:xfrm>
          <a:prstGeom prst="rect">
            <a:avLst/>
          </a:prstGeom>
          <a:noFill/>
          <a:ln/>
        </p:spPr>
        <p:txBody>
          <a:bodyPr wrap="square" rtlCol="0" anchor="ctr"/>
          <a:lstStyle/>
          <a:p>
            <a:pPr algn="ctr" indent="0" marL="0">
              <a:buNone/>
            </a:pPr>
            <a:r>
              <a:rPr lang="en-US" sz="1200" dirty="0">
                <a:solidFill>
                  <a:srgbClr val="0F172A"/>
                </a:solidFill>
                <a:latin typeface="Calibri" pitchFamily="34" charset="0"/>
                <a:ea typeface="Calibri" pitchFamily="34" charset="-122"/>
                <a:cs typeface="Calibri" pitchFamily="34" charset="-120"/>
              </a:rPr>
              <a:t>Core academics · attendance · grades · parent access</a:t>
            </a:r>
            <a:endParaRPr lang="en-US" sz="1200" dirty="0"/>
          </a:p>
        </p:txBody>
      </p:sp>
      <p:sp>
        <p:nvSpPr>
          <p:cNvPr id="11" name="Shape 9"/>
          <p:cNvSpPr/>
          <p:nvPr/>
        </p:nvSpPr>
        <p:spPr>
          <a:xfrm>
            <a:off x="4251960" y="1143000"/>
            <a:ext cx="3703320" cy="3246120"/>
          </a:xfrm>
          <a:prstGeom prst="roundRect">
            <a:avLst>
              <a:gd name="adj" fmla="val 3380"/>
            </a:avLst>
          </a:prstGeom>
          <a:solidFill>
            <a:srgbClr val="CCFBF1"/>
          </a:solidFill>
          <a:ln/>
        </p:spPr>
      </p:sp>
      <p:sp>
        <p:nvSpPr>
          <p:cNvPr id="12" name="Text 10"/>
          <p:cNvSpPr/>
          <p:nvPr/>
        </p:nvSpPr>
        <p:spPr>
          <a:xfrm>
            <a:off x="4251960" y="1234440"/>
            <a:ext cx="3703320" cy="256032"/>
          </a:xfrm>
          <a:prstGeom prst="rect">
            <a:avLst/>
          </a:prstGeom>
          <a:noFill/>
          <a:ln/>
        </p:spPr>
        <p:txBody>
          <a:bodyPr wrap="square" rtlCol="0" anchor="ctr"/>
          <a:lstStyle/>
          <a:p>
            <a:pPr algn="ctr" indent="0" marL="0">
              <a:buNone/>
            </a:pPr>
            <a:r>
              <a:rPr lang="en-US" sz="1100" b="1" dirty="0">
                <a:solidFill>
                  <a:srgbClr val="0F766E"/>
                </a:solidFill>
                <a:latin typeface="Calibri" pitchFamily="34" charset="0"/>
                <a:ea typeface="Calibri" pitchFamily="34" charset="-122"/>
                <a:cs typeface="Calibri" pitchFamily="34" charset="-120"/>
              </a:rPr>
              <a:t>RECOMMENDED</a:t>
            </a:r>
            <a:endParaRPr lang="en-US" sz="1100" dirty="0"/>
          </a:p>
        </p:txBody>
      </p:sp>
      <p:sp>
        <p:nvSpPr>
          <p:cNvPr id="13" name="Text 11"/>
          <p:cNvSpPr/>
          <p:nvPr/>
        </p:nvSpPr>
        <p:spPr>
          <a:xfrm>
            <a:off x="4434840" y="1554480"/>
            <a:ext cx="3337560" cy="365760"/>
          </a:xfrm>
          <a:prstGeom prst="rect">
            <a:avLst/>
          </a:prstGeom>
          <a:noFill/>
          <a:ln/>
        </p:spPr>
        <p:txBody>
          <a:bodyPr wrap="square" rtlCol="0" anchor="ctr"/>
          <a:lstStyle/>
          <a:p>
            <a:pPr algn="ctr" indent="0" marL="0">
              <a:buNone/>
            </a:pPr>
            <a:r>
              <a:rPr lang="en-US" sz="1800" b="1" dirty="0">
                <a:solidFill>
                  <a:srgbClr val="115E59"/>
                </a:solidFill>
                <a:latin typeface="Calibri" pitchFamily="34" charset="0"/>
                <a:ea typeface="Calibri" pitchFamily="34" charset="-122"/>
                <a:cs typeface="Calibri" pitchFamily="34" charset="-120"/>
              </a:rPr>
              <a:t>Standard</a:t>
            </a:r>
            <a:endParaRPr lang="en-US" sz="1800" dirty="0"/>
          </a:p>
        </p:txBody>
      </p:sp>
      <p:sp>
        <p:nvSpPr>
          <p:cNvPr id="14" name="Text 12"/>
          <p:cNvSpPr/>
          <p:nvPr/>
        </p:nvSpPr>
        <p:spPr>
          <a:xfrm>
            <a:off x="4434840" y="2011680"/>
            <a:ext cx="3337560" cy="411480"/>
          </a:xfrm>
          <a:prstGeom prst="rect">
            <a:avLst/>
          </a:prstGeom>
          <a:noFill/>
          <a:ln/>
        </p:spPr>
        <p:txBody>
          <a:bodyPr wrap="square" rtlCol="0" anchor="ctr"/>
          <a:lstStyle/>
          <a:p>
            <a:pPr algn="ctr" indent="0" marL="0">
              <a:buNone/>
            </a:pPr>
            <a:r>
              <a:rPr lang="en-US" sz="2800" b="1" dirty="0">
                <a:solidFill>
                  <a:srgbClr val="0F766E"/>
                </a:solidFill>
                <a:latin typeface="Calibri" pitchFamily="34" charset="0"/>
                <a:ea typeface="Calibri" pitchFamily="34" charset="-122"/>
                <a:cs typeface="Calibri" pitchFamily="34" charset="-120"/>
              </a:rPr>
              <a:t>300 ETB</a:t>
            </a:r>
            <a:endParaRPr lang="en-US" sz="2800" dirty="0"/>
          </a:p>
        </p:txBody>
      </p:sp>
      <p:sp>
        <p:nvSpPr>
          <p:cNvPr id="15" name="Text 13"/>
          <p:cNvSpPr/>
          <p:nvPr/>
        </p:nvSpPr>
        <p:spPr>
          <a:xfrm>
            <a:off x="4434840" y="2468880"/>
            <a:ext cx="3337560" cy="320040"/>
          </a:xfrm>
          <a:prstGeom prst="rect">
            <a:avLst/>
          </a:prstGeom>
          <a:noFill/>
          <a:ln/>
        </p:spPr>
        <p:txBody>
          <a:bodyPr wrap="square" rtlCol="0" anchor="ctr"/>
          <a:lstStyle/>
          <a:p>
            <a:pPr algn="ctr" indent="0" marL="0">
              <a:buNone/>
            </a:pPr>
            <a:r>
              <a:rPr lang="en-US" sz="1300" dirty="0">
                <a:solidFill>
                  <a:srgbClr val="475569"/>
                </a:solidFill>
                <a:latin typeface="Calibri" pitchFamily="34" charset="0"/>
                <a:ea typeface="Calibri" pitchFamily="34" charset="-122"/>
                <a:cs typeface="Calibri" pitchFamily="34" charset="-120"/>
              </a:rPr>
              <a:t>+ VAT 15% = 45 ETB</a:t>
            </a:r>
            <a:endParaRPr lang="en-US" sz="1300" dirty="0"/>
          </a:p>
        </p:txBody>
      </p:sp>
      <p:sp>
        <p:nvSpPr>
          <p:cNvPr id="16" name="Text 14"/>
          <p:cNvSpPr/>
          <p:nvPr/>
        </p:nvSpPr>
        <p:spPr>
          <a:xfrm>
            <a:off x="4434840" y="2880360"/>
            <a:ext cx="3337560" cy="365760"/>
          </a:xfrm>
          <a:prstGeom prst="rect">
            <a:avLst/>
          </a:prstGeom>
          <a:noFill/>
          <a:ln/>
        </p:spPr>
        <p:txBody>
          <a:bodyPr wrap="square" rtlCol="0" anchor="ctr"/>
          <a:lstStyle/>
          <a:p>
            <a:pPr algn="ctr" indent="0" marL="0">
              <a:buNone/>
            </a:pPr>
            <a:r>
              <a:rPr lang="en-US" sz="1600" b="1" dirty="0">
                <a:solidFill>
                  <a:srgbClr val="0F172A"/>
                </a:solidFill>
                <a:latin typeface="Calibri" pitchFamily="34" charset="0"/>
                <a:ea typeface="Calibri" pitchFamily="34" charset="-122"/>
                <a:cs typeface="Calibri" pitchFamily="34" charset="-120"/>
              </a:rPr>
              <a:t>345 ETB / student</a:t>
            </a:r>
            <a:endParaRPr lang="en-US" sz="1600" dirty="0"/>
          </a:p>
        </p:txBody>
      </p:sp>
      <p:sp>
        <p:nvSpPr>
          <p:cNvPr id="17" name="Text 15"/>
          <p:cNvSpPr/>
          <p:nvPr/>
        </p:nvSpPr>
        <p:spPr>
          <a:xfrm>
            <a:off x="4526280" y="3383280"/>
            <a:ext cx="3154680" cy="777240"/>
          </a:xfrm>
          <a:prstGeom prst="rect">
            <a:avLst/>
          </a:prstGeom>
          <a:noFill/>
          <a:ln/>
        </p:spPr>
        <p:txBody>
          <a:bodyPr wrap="square" rtlCol="0" anchor="ctr"/>
          <a:lstStyle/>
          <a:p>
            <a:pPr algn="ctr" indent="0" marL="0">
              <a:buNone/>
            </a:pPr>
            <a:r>
              <a:rPr lang="en-US" sz="1200" dirty="0">
                <a:solidFill>
                  <a:srgbClr val="0F172A"/>
                </a:solidFill>
                <a:latin typeface="Calibri" pitchFamily="34" charset="0"/>
                <a:ea typeface="Calibri" pitchFamily="34" charset="-122"/>
                <a:cs typeface="Calibri" pitchFamily="34" charset="-120"/>
              </a:rPr>
              <a:t>Full ERP · approvals · messaging · reports</a:t>
            </a:r>
            <a:endParaRPr lang="en-US" sz="1200" dirty="0"/>
          </a:p>
        </p:txBody>
      </p:sp>
      <p:sp>
        <p:nvSpPr>
          <p:cNvPr id="18" name="Shape 16"/>
          <p:cNvSpPr/>
          <p:nvPr/>
        </p:nvSpPr>
        <p:spPr>
          <a:xfrm>
            <a:off x="8138160" y="1143000"/>
            <a:ext cx="3703320" cy="3246120"/>
          </a:xfrm>
          <a:prstGeom prst="roundRect">
            <a:avLst>
              <a:gd name="adj" fmla="val 3380"/>
            </a:avLst>
          </a:prstGeom>
          <a:solidFill>
            <a:srgbClr val="F1F5F9"/>
          </a:solidFill>
          <a:ln/>
        </p:spPr>
      </p:sp>
      <p:sp>
        <p:nvSpPr>
          <p:cNvPr id="19" name="Text 17"/>
          <p:cNvSpPr/>
          <p:nvPr/>
        </p:nvSpPr>
        <p:spPr>
          <a:xfrm>
            <a:off x="8321040" y="1554480"/>
            <a:ext cx="3337560" cy="365760"/>
          </a:xfrm>
          <a:prstGeom prst="rect">
            <a:avLst/>
          </a:prstGeom>
          <a:noFill/>
          <a:ln/>
        </p:spPr>
        <p:txBody>
          <a:bodyPr wrap="square" rtlCol="0" anchor="ctr"/>
          <a:lstStyle/>
          <a:p>
            <a:pPr algn="ctr" indent="0" marL="0">
              <a:buNone/>
            </a:pPr>
            <a:r>
              <a:rPr lang="en-US" sz="1800" b="1" dirty="0">
                <a:solidFill>
                  <a:srgbClr val="115E59"/>
                </a:solidFill>
                <a:latin typeface="Calibri" pitchFamily="34" charset="0"/>
                <a:ea typeface="Calibri" pitchFamily="34" charset="-122"/>
                <a:cs typeface="Calibri" pitchFamily="34" charset="-120"/>
              </a:rPr>
              <a:t>Campus+</a:t>
            </a:r>
            <a:endParaRPr lang="en-US" sz="1800" dirty="0"/>
          </a:p>
        </p:txBody>
      </p:sp>
      <p:sp>
        <p:nvSpPr>
          <p:cNvPr id="20" name="Text 18"/>
          <p:cNvSpPr/>
          <p:nvPr/>
        </p:nvSpPr>
        <p:spPr>
          <a:xfrm>
            <a:off x="8321040" y="2011680"/>
            <a:ext cx="3337560" cy="411480"/>
          </a:xfrm>
          <a:prstGeom prst="rect">
            <a:avLst/>
          </a:prstGeom>
          <a:noFill/>
          <a:ln/>
        </p:spPr>
        <p:txBody>
          <a:bodyPr wrap="square" rtlCol="0" anchor="ctr"/>
          <a:lstStyle/>
          <a:p>
            <a:pPr algn="ctr" indent="0" marL="0">
              <a:buNone/>
            </a:pPr>
            <a:r>
              <a:rPr lang="en-US" sz="2800" b="1" dirty="0">
                <a:solidFill>
                  <a:srgbClr val="0F766E"/>
                </a:solidFill>
                <a:latin typeface="Calibri" pitchFamily="34" charset="0"/>
                <a:ea typeface="Calibri" pitchFamily="34" charset="-122"/>
                <a:cs typeface="Calibri" pitchFamily="34" charset="-120"/>
              </a:rPr>
              <a:t>400 ETB</a:t>
            </a:r>
            <a:endParaRPr lang="en-US" sz="2800" dirty="0"/>
          </a:p>
        </p:txBody>
      </p:sp>
      <p:sp>
        <p:nvSpPr>
          <p:cNvPr id="21" name="Text 19"/>
          <p:cNvSpPr/>
          <p:nvPr/>
        </p:nvSpPr>
        <p:spPr>
          <a:xfrm>
            <a:off x="8321040" y="2468880"/>
            <a:ext cx="3337560" cy="320040"/>
          </a:xfrm>
          <a:prstGeom prst="rect">
            <a:avLst/>
          </a:prstGeom>
          <a:noFill/>
          <a:ln/>
        </p:spPr>
        <p:txBody>
          <a:bodyPr wrap="square" rtlCol="0" anchor="ctr"/>
          <a:lstStyle/>
          <a:p>
            <a:pPr algn="ctr" indent="0" marL="0">
              <a:buNone/>
            </a:pPr>
            <a:r>
              <a:rPr lang="en-US" sz="1300" dirty="0">
                <a:solidFill>
                  <a:srgbClr val="475569"/>
                </a:solidFill>
                <a:latin typeface="Calibri" pitchFamily="34" charset="0"/>
                <a:ea typeface="Calibri" pitchFamily="34" charset="-122"/>
                <a:cs typeface="Calibri" pitchFamily="34" charset="-120"/>
              </a:rPr>
              <a:t>+ VAT 15% = 60 ETB</a:t>
            </a:r>
            <a:endParaRPr lang="en-US" sz="1300" dirty="0"/>
          </a:p>
        </p:txBody>
      </p:sp>
      <p:sp>
        <p:nvSpPr>
          <p:cNvPr id="22" name="Text 20"/>
          <p:cNvSpPr/>
          <p:nvPr/>
        </p:nvSpPr>
        <p:spPr>
          <a:xfrm>
            <a:off x="8321040" y="2880360"/>
            <a:ext cx="3337560" cy="365760"/>
          </a:xfrm>
          <a:prstGeom prst="rect">
            <a:avLst/>
          </a:prstGeom>
          <a:noFill/>
          <a:ln/>
        </p:spPr>
        <p:txBody>
          <a:bodyPr wrap="square" rtlCol="0" anchor="ctr"/>
          <a:lstStyle/>
          <a:p>
            <a:pPr algn="ctr" indent="0" marL="0">
              <a:buNone/>
            </a:pPr>
            <a:r>
              <a:rPr lang="en-US" sz="1600" b="1" dirty="0">
                <a:solidFill>
                  <a:srgbClr val="0F172A"/>
                </a:solidFill>
                <a:latin typeface="Calibri" pitchFamily="34" charset="0"/>
                <a:ea typeface="Calibri" pitchFamily="34" charset="-122"/>
                <a:cs typeface="Calibri" pitchFamily="34" charset="-120"/>
              </a:rPr>
              <a:t>460 ETB / student</a:t>
            </a:r>
            <a:endParaRPr lang="en-US" sz="1600" dirty="0"/>
          </a:p>
        </p:txBody>
      </p:sp>
      <p:sp>
        <p:nvSpPr>
          <p:cNvPr id="23" name="Text 21"/>
          <p:cNvSpPr/>
          <p:nvPr/>
        </p:nvSpPr>
        <p:spPr>
          <a:xfrm>
            <a:off x="8412480" y="3383280"/>
            <a:ext cx="3154680" cy="777240"/>
          </a:xfrm>
          <a:prstGeom prst="rect">
            <a:avLst/>
          </a:prstGeom>
          <a:noFill/>
          <a:ln/>
        </p:spPr>
        <p:txBody>
          <a:bodyPr wrap="square" rtlCol="0" anchor="ctr"/>
          <a:lstStyle/>
          <a:p>
            <a:pPr algn="ctr" indent="0" marL="0">
              <a:buNone/>
            </a:pPr>
            <a:r>
              <a:rPr lang="en-US" sz="1200" dirty="0">
                <a:solidFill>
                  <a:srgbClr val="0F172A"/>
                </a:solidFill>
                <a:latin typeface="Calibri" pitchFamily="34" charset="0"/>
                <a:ea typeface="Calibri" pitchFamily="34" charset="-122"/>
                <a:cs typeface="Calibri" pitchFamily="34" charset="-120"/>
              </a:rPr>
              <a:t>Multi-campus · transport · inventory · priority support</a:t>
            </a:r>
            <a:endParaRPr lang="en-US" sz="1200" dirty="0"/>
          </a:p>
        </p:txBody>
      </p:sp>
      <p:sp>
        <p:nvSpPr>
          <p:cNvPr id="24" name="Shape 22"/>
          <p:cNvSpPr/>
          <p:nvPr/>
        </p:nvSpPr>
        <p:spPr>
          <a:xfrm>
            <a:off x="365760" y="4572000"/>
            <a:ext cx="11430000" cy="1691640"/>
          </a:xfrm>
          <a:prstGeom prst="roundRect">
            <a:avLst>
              <a:gd name="adj" fmla="val 5405"/>
            </a:avLst>
          </a:prstGeom>
          <a:solidFill>
            <a:srgbClr val="FFFBEB"/>
          </a:solidFill>
          <a:ln/>
        </p:spPr>
      </p:sp>
      <p:sp>
        <p:nvSpPr>
          <p:cNvPr id="25" name="Text 23"/>
          <p:cNvSpPr/>
          <p:nvPr/>
        </p:nvSpPr>
        <p:spPr>
          <a:xfrm>
            <a:off x="640080" y="4709160"/>
            <a:ext cx="10972800" cy="320040"/>
          </a:xfrm>
          <a:prstGeom prst="rect">
            <a:avLst/>
          </a:prstGeom>
          <a:noFill/>
          <a:ln/>
        </p:spPr>
        <p:txBody>
          <a:bodyPr wrap="square" rtlCol="0" anchor="ctr"/>
          <a:lstStyle/>
          <a:p>
            <a:pPr indent="0" marL="0">
              <a:buNone/>
            </a:pPr>
            <a:r>
              <a:rPr lang="en-US" sz="1400" b="1" dirty="0">
                <a:solidFill>
                  <a:srgbClr val="B45309"/>
                </a:solidFill>
                <a:latin typeface="Calibri" pitchFamily="34" charset="0"/>
                <a:ea typeface="Calibri" pitchFamily="34" charset="-122"/>
                <a:cs typeface="Calibri" pitchFamily="34" charset="-120"/>
              </a:rPr>
              <a:t>Example school quote (Standard @ 300 ETB + VAT)</a:t>
            </a:r>
            <a:endParaRPr lang="en-US" sz="1400" dirty="0"/>
          </a:p>
        </p:txBody>
      </p:sp>
      <p:sp>
        <p:nvSpPr>
          <p:cNvPr id="26" name="Text 24"/>
          <p:cNvSpPr/>
          <p:nvPr/>
        </p:nvSpPr>
        <p:spPr>
          <a:xfrm>
            <a:off x="640080" y="5074920"/>
            <a:ext cx="10972800" cy="100584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300 students × 300 ETB = 90,000 ETB   ·   VAT 15% = 13,500 ETB   ·   Total = 103,500 ETB</a:t>
            </a:r>
            <a:endParaRPr lang="en-US" sz="1300" dirty="0"/>
          </a:p>
          <a:p>
            <a:pPr indent="0" marL="0">
              <a:buNone/>
            </a:pPr>
            <a:r>
              <a:rPr lang="en-US" sz="1300" dirty="0">
                <a:solidFill>
                  <a:srgbClr val="0F172A"/>
                </a:solidFill>
                <a:latin typeface="Calibri" pitchFamily="34" charset="0"/>
                <a:ea typeface="Calibri" pitchFamily="34" charset="-122"/>
                <a:cs typeface="Calibri" pitchFamily="34" charset="-120"/>
              </a:rPr>
              <a:t>500 students × 300 ETB = 150,000 ETB  ·   VAT 15% = 22,500 ETB   ·   Total = 172,500 ETB</a:t>
            </a:r>
            <a:endParaRPr lang="en-US" sz="1300" dirty="0"/>
          </a:p>
          <a:p>
            <a:pPr indent="0" marL="0">
              <a:buNone/>
            </a:pPr>
            <a:r>
              <a:rPr lang="en-US" sz="1300" dirty="0">
                <a:solidFill>
                  <a:srgbClr val="0F172A"/>
                </a:solidFill>
                <a:latin typeface="Calibri" pitchFamily="34" charset="0"/>
                <a:ea typeface="Calibri" pitchFamily="34" charset="-122"/>
                <a:cs typeface="Calibri" pitchFamily="34" charset="-120"/>
              </a:rPr>
              <a:t>Final invoice uses active enrolled students × agreed tier. Seat count can be contracted.</a:t>
            </a:r>
            <a:endParaRPr lang="en-US" sz="1300" dirty="0"/>
          </a:p>
        </p:txBody>
      </p:sp>
      <p:sp>
        <p:nvSpPr>
          <p:cNvPr id="27" name="Text 25"/>
          <p:cNvSpPr/>
          <p:nvPr/>
        </p:nvSpPr>
        <p:spPr>
          <a:xfrm>
            <a:off x="365760" y="6537960"/>
            <a:ext cx="9601200" cy="22860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MayaBela · Confidential · School leadership briefing</a:t>
            </a:r>
            <a:endParaRPr lang="en-US" sz="900" dirty="0"/>
          </a:p>
        </p:txBody>
      </p:sp>
      <p:sp>
        <p:nvSpPr>
          <p:cNvPr id="28" name="Text 26"/>
          <p:cNvSpPr/>
          <p:nvPr/>
        </p:nvSpPr>
        <p:spPr>
          <a:xfrm>
            <a:off x="10789920" y="6537960"/>
            <a:ext cx="914400" cy="22860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F766E"/>
          </a:solidFill>
          <a:ln/>
        </p:spPr>
      </p:sp>
      <p:sp>
        <p:nvSpPr>
          <p:cNvPr id="3" name="Text 1"/>
          <p:cNvSpPr/>
          <p:nvPr/>
        </p:nvSpPr>
        <p:spPr>
          <a:xfrm>
            <a:off x="411480" y="164592"/>
            <a:ext cx="11338560" cy="36576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 clean decision for leadership</a:t>
            </a:r>
            <a:endParaRPr lang="en-US" sz="2200" dirty="0"/>
          </a:p>
        </p:txBody>
      </p:sp>
      <p:sp>
        <p:nvSpPr>
          <p:cNvPr id="4" name="Text 2"/>
          <p:cNvSpPr/>
          <p:nvPr/>
        </p:nvSpPr>
        <p:spPr>
          <a:xfrm>
            <a:off x="411480" y="530352"/>
            <a:ext cx="11338560" cy="292608"/>
          </a:xfrm>
          <a:prstGeom prst="rect">
            <a:avLst/>
          </a:prstGeom>
          <a:noFill/>
          <a:ln/>
        </p:spPr>
        <p:txBody>
          <a:bodyPr wrap="square" rtlCol="0" anchor="ctr"/>
          <a:lstStyle/>
          <a:p>
            <a:pPr indent="0" marL="0">
              <a:buNone/>
            </a:pPr>
            <a:r>
              <a:rPr lang="en-US" sz="1200" dirty="0">
                <a:solidFill>
                  <a:srgbClr val="CCFBF1"/>
                </a:solidFill>
                <a:latin typeface="Calibri" pitchFamily="34" charset="0"/>
                <a:ea typeface="Calibri" pitchFamily="34" charset="-122"/>
                <a:cs typeface="Calibri" pitchFamily="34" charset="-120"/>
              </a:rPr>
              <a:t>Low risk. High visibility. Fast proof.</a:t>
            </a:r>
            <a:endParaRPr lang="en-US" sz="1200" dirty="0"/>
          </a:p>
        </p:txBody>
      </p:sp>
      <p:sp>
        <p:nvSpPr>
          <p:cNvPr id="5" name="Shape 3"/>
          <p:cNvSpPr/>
          <p:nvPr/>
        </p:nvSpPr>
        <p:spPr>
          <a:xfrm>
            <a:off x="457200" y="1234440"/>
            <a:ext cx="11247120" cy="960120"/>
          </a:xfrm>
          <a:prstGeom prst="roundRect">
            <a:avLst>
              <a:gd name="adj" fmla="val 9524"/>
            </a:avLst>
          </a:prstGeom>
          <a:solidFill>
            <a:srgbClr val="F1F5F9"/>
          </a:solidFill>
          <a:ln/>
        </p:spPr>
      </p:sp>
      <p:sp>
        <p:nvSpPr>
          <p:cNvPr id="6" name="Shape 4"/>
          <p:cNvSpPr/>
          <p:nvPr/>
        </p:nvSpPr>
        <p:spPr>
          <a:xfrm>
            <a:off x="457200" y="1234440"/>
            <a:ext cx="164592" cy="960120"/>
          </a:xfrm>
          <a:prstGeom prst="rect">
            <a:avLst/>
          </a:prstGeom>
          <a:solidFill>
            <a:srgbClr val="0F766E"/>
          </a:solidFill>
          <a:ln/>
        </p:spPr>
      </p:sp>
      <p:sp>
        <p:nvSpPr>
          <p:cNvPr id="7" name="Text 5"/>
          <p:cNvSpPr/>
          <p:nvPr/>
        </p:nvSpPr>
        <p:spPr>
          <a:xfrm>
            <a:off x="914400" y="1490472"/>
            <a:ext cx="2011680" cy="457200"/>
          </a:xfrm>
          <a:prstGeom prst="rect">
            <a:avLst/>
          </a:prstGeom>
          <a:noFill/>
          <a:ln/>
        </p:spPr>
        <p:txBody>
          <a:bodyPr wrap="square" rtlCol="0" anchor="ctr"/>
          <a:lstStyle/>
          <a:p>
            <a:pPr indent="0" marL="0">
              <a:buNone/>
            </a:pPr>
            <a:r>
              <a:rPr lang="en-US" sz="1600" b="1" dirty="0">
                <a:solidFill>
                  <a:srgbClr val="0F766E"/>
                </a:solidFill>
                <a:latin typeface="Calibri" pitchFamily="34" charset="0"/>
                <a:ea typeface="Calibri" pitchFamily="34" charset="-122"/>
                <a:cs typeface="Calibri" pitchFamily="34" charset="-120"/>
              </a:rPr>
              <a:t>Week 0</a:t>
            </a:r>
            <a:endParaRPr lang="en-US" sz="1600" dirty="0"/>
          </a:p>
        </p:txBody>
      </p:sp>
      <p:sp>
        <p:nvSpPr>
          <p:cNvPr id="8" name="Text 6"/>
          <p:cNvSpPr/>
          <p:nvPr/>
        </p:nvSpPr>
        <p:spPr>
          <a:xfrm>
            <a:off x="3108960" y="1490472"/>
            <a:ext cx="8229600" cy="457200"/>
          </a:xfrm>
          <a:prstGeom prst="rect">
            <a:avLst/>
          </a:prstGeom>
          <a:noFill/>
          <a:ln/>
        </p:spPr>
        <p:txBody>
          <a:bodyPr wrap="square" rtlCol="0" anchor="ctr"/>
          <a:lstStyle/>
          <a:p>
            <a:pPr indent="0" marL="0">
              <a:buNone/>
            </a:pPr>
            <a:r>
              <a:rPr lang="en-US" sz="1600" dirty="0">
                <a:solidFill>
                  <a:srgbClr val="0F172A"/>
                </a:solidFill>
                <a:latin typeface="Calibri" pitchFamily="34" charset="0"/>
                <a:ea typeface="Calibri" pitchFamily="34" charset="-122"/>
                <a:cs typeface="Calibri" pitchFamily="34" charset="-120"/>
              </a:rPr>
              <a:t>Create your school cloud · set grades/campuses · admin login</a:t>
            </a:r>
            <a:endParaRPr lang="en-US" sz="1600" dirty="0"/>
          </a:p>
        </p:txBody>
      </p:sp>
      <p:sp>
        <p:nvSpPr>
          <p:cNvPr id="9" name="Shape 7"/>
          <p:cNvSpPr/>
          <p:nvPr/>
        </p:nvSpPr>
        <p:spPr>
          <a:xfrm>
            <a:off x="457200" y="2331720"/>
            <a:ext cx="11247120" cy="960120"/>
          </a:xfrm>
          <a:prstGeom prst="roundRect">
            <a:avLst>
              <a:gd name="adj" fmla="val 9524"/>
            </a:avLst>
          </a:prstGeom>
          <a:solidFill>
            <a:srgbClr val="F1F5F9"/>
          </a:solidFill>
          <a:ln/>
        </p:spPr>
      </p:sp>
      <p:sp>
        <p:nvSpPr>
          <p:cNvPr id="10" name="Shape 8"/>
          <p:cNvSpPr/>
          <p:nvPr/>
        </p:nvSpPr>
        <p:spPr>
          <a:xfrm>
            <a:off x="457200" y="2331720"/>
            <a:ext cx="164592" cy="960120"/>
          </a:xfrm>
          <a:prstGeom prst="rect">
            <a:avLst/>
          </a:prstGeom>
          <a:solidFill>
            <a:srgbClr val="0F766E"/>
          </a:solidFill>
          <a:ln/>
        </p:spPr>
      </p:sp>
      <p:sp>
        <p:nvSpPr>
          <p:cNvPr id="11" name="Text 9"/>
          <p:cNvSpPr/>
          <p:nvPr/>
        </p:nvSpPr>
        <p:spPr>
          <a:xfrm>
            <a:off x="914400" y="2587752"/>
            <a:ext cx="2011680" cy="457200"/>
          </a:xfrm>
          <a:prstGeom prst="rect">
            <a:avLst/>
          </a:prstGeom>
          <a:noFill/>
          <a:ln/>
        </p:spPr>
        <p:txBody>
          <a:bodyPr wrap="square" rtlCol="0" anchor="ctr"/>
          <a:lstStyle/>
          <a:p>
            <a:pPr indent="0" marL="0">
              <a:buNone/>
            </a:pPr>
            <a:r>
              <a:rPr lang="en-US" sz="1600" b="1" dirty="0">
                <a:solidFill>
                  <a:srgbClr val="0F766E"/>
                </a:solidFill>
                <a:latin typeface="Calibri" pitchFamily="34" charset="0"/>
                <a:ea typeface="Calibri" pitchFamily="34" charset="-122"/>
                <a:cs typeface="Calibri" pitchFamily="34" charset="-120"/>
              </a:rPr>
              <a:t>Week 1</a:t>
            </a:r>
            <a:endParaRPr lang="en-US" sz="1600" dirty="0"/>
          </a:p>
        </p:txBody>
      </p:sp>
      <p:sp>
        <p:nvSpPr>
          <p:cNvPr id="12" name="Text 10"/>
          <p:cNvSpPr/>
          <p:nvPr/>
        </p:nvSpPr>
        <p:spPr>
          <a:xfrm>
            <a:off x="3108960" y="2587752"/>
            <a:ext cx="8229600" cy="457200"/>
          </a:xfrm>
          <a:prstGeom prst="rect">
            <a:avLst/>
          </a:prstGeom>
          <a:noFill/>
          <a:ln/>
        </p:spPr>
        <p:txBody>
          <a:bodyPr wrap="square" rtlCol="0" anchor="ctr"/>
          <a:lstStyle/>
          <a:p>
            <a:pPr indent="0" marL="0">
              <a:buNone/>
            </a:pPr>
            <a:r>
              <a:rPr lang="en-US" sz="1600" dirty="0">
                <a:solidFill>
                  <a:srgbClr val="0F172A"/>
                </a:solidFill>
                <a:latin typeface="Calibri" pitchFamily="34" charset="0"/>
                <a:ea typeface="Calibri" pitchFamily="34" charset="-122"/>
                <a:cs typeface="Calibri" pitchFamily="34" charset="-120"/>
              </a:rPr>
              <a:t>Enroll one grade or campus · teachers live · attendance starts</a:t>
            </a:r>
            <a:endParaRPr lang="en-US" sz="1600" dirty="0"/>
          </a:p>
        </p:txBody>
      </p:sp>
      <p:sp>
        <p:nvSpPr>
          <p:cNvPr id="13" name="Shape 11"/>
          <p:cNvSpPr/>
          <p:nvPr/>
        </p:nvSpPr>
        <p:spPr>
          <a:xfrm>
            <a:off x="457200" y="3429000"/>
            <a:ext cx="11247120" cy="960120"/>
          </a:xfrm>
          <a:prstGeom prst="roundRect">
            <a:avLst>
              <a:gd name="adj" fmla="val 9524"/>
            </a:avLst>
          </a:prstGeom>
          <a:solidFill>
            <a:srgbClr val="F1F5F9"/>
          </a:solidFill>
          <a:ln/>
        </p:spPr>
      </p:sp>
      <p:sp>
        <p:nvSpPr>
          <p:cNvPr id="14" name="Shape 12"/>
          <p:cNvSpPr/>
          <p:nvPr/>
        </p:nvSpPr>
        <p:spPr>
          <a:xfrm>
            <a:off x="457200" y="3429000"/>
            <a:ext cx="164592" cy="960120"/>
          </a:xfrm>
          <a:prstGeom prst="rect">
            <a:avLst/>
          </a:prstGeom>
          <a:solidFill>
            <a:srgbClr val="0F766E"/>
          </a:solidFill>
          <a:ln/>
        </p:spPr>
      </p:sp>
      <p:sp>
        <p:nvSpPr>
          <p:cNvPr id="15" name="Text 13"/>
          <p:cNvSpPr/>
          <p:nvPr/>
        </p:nvSpPr>
        <p:spPr>
          <a:xfrm>
            <a:off x="914400" y="3685032"/>
            <a:ext cx="2011680" cy="457200"/>
          </a:xfrm>
          <a:prstGeom prst="rect">
            <a:avLst/>
          </a:prstGeom>
          <a:noFill/>
          <a:ln/>
        </p:spPr>
        <p:txBody>
          <a:bodyPr wrap="square" rtlCol="0" anchor="ctr"/>
          <a:lstStyle/>
          <a:p>
            <a:pPr indent="0" marL="0">
              <a:buNone/>
            </a:pPr>
            <a:r>
              <a:rPr lang="en-US" sz="1600" b="1" dirty="0">
                <a:solidFill>
                  <a:srgbClr val="0F766E"/>
                </a:solidFill>
                <a:latin typeface="Calibri" pitchFamily="34" charset="0"/>
                <a:ea typeface="Calibri" pitchFamily="34" charset="-122"/>
                <a:cs typeface="Calibri" pitchFamily="34" charset="-120"/>
              </a:rPr>
              <a:t>Week 2</a:t>
            </a:r>
            <a:endParaRPr lang="en-US" sz="1600" dirty="0"/>
          </a:p>
        </p:txBody>
      </p:sp>
      <p:sp>
        <p:nvSpPr>
          <p:cNvPr id="16" name="Text 14"/>
          <p:cNvSpPr/>
          <p:nvPr/>
        </p:nvSpPr>
        <p:spPr>
          <a:xfrm>
            <a:off x="3108960" y="3685032"/>
            <a:ext cx="8229600" cy="457200"/>
          </a:xfrm>
          <a:prstGeom prst="rect">
            <a:avLst/>
          </a:prstGeom>
          <a:noFill/>
          <a:ln/>
        </p:spPr>
        <p:txBody>
          <a:bodyPr wrap="square" rtlCol="0" anchor="ctr"/>
          <a:lstStyle/>
          <a:p>
            <a:pPr indent="0" marL="0">
              <a:buNone/>
            </a:pPr>
            <a:r>
              <a:rPr lang="en-US" sz="1600" dirty="0">
                <a:solidFill>
                  <a:srgbClr val="0F172A"/>
                </a:solidFill>
                <a:latin typeface="Calibri" pitchFamily="34" charset="0"/>
                <a:ea typeface="Calibri" pitchFamily="34" charset="-122"/>
                <a:cs typeface="Calibri" pitchFamily="34" charset="-120"/>
              </a:rPr>
              <a:t>Parent links · grade approval demo · transport (if used)</a:t>
            </a:r>
            <a:endParaRPr lang="en-US" sz="1600" dirty="0"/>
          </a:p>
        </p:txBody>
      </p:sp>
      <p:sp>
        <p:nvSpPr>
          <p:cNvPr id="17" name="Shape 15"/>
          <p:cNvSpPr/>
          <p:nvPr/>
        </p:nvSpPr>
        <p:spPr>
          <a:xfrm>
            <a:off x="457200" y="4526280"/>
            <a:ext cx="11247120" cy="960120"/>
          </a:xfrm>
          <a:prstGeom prst="roundRect">
            <a:avLst>
              <a:gd name="adj" fmla="val 9524"/>
            </a:avLst>
          </a:prstGeom>
          <a:solidFill>
            <a:srgbClr val="F1F5F9"/>
          </a:solidFill>
          <a:ln/>
        </p:spPr>
      </p:sp>
      <p:sp>
        <p:nvSpPr>
          <p:cNvPr id="18" name="Shape 16"/>
          <p:cNvSpPr/>
          <p:nvPr/>
        </p:nvSpPr>
        <p:spPr>
          <a:xfrm>
            <a:off x="457200" y="4526280"/>
            <a:ext cx="164592" cy="960120"/>
          </a:xfrm>
          <a:prstGeom prst="rect">
            <a:avLst/>
          </a:prstGeom>
          <a:solidFill>
            <a:srgbClr val="0F766E"/>
          </a:solidFill>
          <a:ln/>
        </p:spPr>
      </p:sp>
      <p:sp>
        <p:nvSpPr>
          <p:cNvPr id="19" name="Text 17"/>
          <p:cNvSpPr/>
          <p:nvPr/>
        </p:nvSpPr>
        <p:spPr>
          <a:xfrm>
            <a:off x="914400" y="4782312"/>
            <a:ext cx="2011680" cy="457200"/>
          </a:xfrm>
          <a:prstGeom prst="rect">
            <a:avLst/>
          </a:prstGeom>
          <a:noFill/>
          <a:ln/>
        </p:spPr>
        <p:txBody>
          <a:bodyPr wrap="square" rtlCol="0" anchor="ctr"/>
          <a:lstStyle/>
          <a:p>
            <a:pPr indent="0" marL="0">
              <a:buNone/>
            </a:pPr>
            <a:r>
              <a:rPr lang="en-US" sz="1600" b="1" dirty="0">
                <a:solidFill>
                  <a:srgbClr val="0F766E"/>
                </a:solidFill>
                <a:latin typeface="Calibri" pitchFamily="34" charset="0"/>
                <a:ea typeface="Calibri" pitchFamily="34" charset="-122"/>
                <a:cs typeface="Calibri" pitchFamily="34" charset="-120"/>
              </a:rPr>
              <a:t>Decision</a:t>
            </a:r>
            <a:endParaRPr lang="en-US" sz="1600" dirty="0"/>
          </a:p>
        </p:txBody>
      </p:sp>
      <p:sp>
        <p:nvSpPr>
          <p:cNvPr id="20" name="Text 18"/>
          <p:cNvSpPr/>
          <p:nvPr/>
        </p:nvSpPr>
        <p:spPr>
          <a:xfrm>
            <a:off x="3108960" y="4782312"/>
            <a:ext cx="8229600" cy="457200"/>
          </a:xfrm>
          <a:prstGeom prst="rect">
            <a:avLst/>
          </a:prstGeom>
          <a:noFill/>
          <a:ln/>
        </p:spPr>
        <p:txBody>
          <a:bodyPr wrap="square" rtlCol="0" anchor="ctr"/>
          <a:lstStyle/>
          <a:p>
            <a:pPr indent="0" marL="0">
              <a:buNone/>
            </a:pPr>
            <a:r>
              <a:rPr lang="en-US" sz="1600" dirty="0">
                <a:solidFill>
                  <a:srgbClr val="0F172A"/>
                </a:solidFill>
                <a:latin typeface="Calibri" pitchFamily="34" charset="0"/>
                <a:ea typeface="Calibri" pitchFamily="34" charset="-122"/>
                <a:cs typeface="Calibri" pitchFamily="34" charset="-120"/>
              </a:rPr>
              <a:t>Board sees real usage — then expand school-wide</a:t>
            </a:r>
            <a:endParaRPr lang="en-US" sz="1600" dirty="0"/>
          </a:p>
        </p:txBody>
      </p:sp>
      <p:sp>
        <p:nvSpPr>
          <p:cNvPr id="21" name="Text 19"/>
          <p:cNvSpPr/>
          <p:nvPr/>
        </p:nvSpPr>
        <p:spPr>
          <a:xfrm>
            <a:off x="365760" y="6537960"/>
            <a:ext cx="9601200" cy="22860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MayaBela · Confidential · School leadership briefing</a:t>
            </a:r>
            <a:endParaRPr lang="en-US" sz="900" dirty="0"/>
          </a:p>
        </p:txBody>
      </p:sp>
      <p:sp>
        <p:nvSpPr>
          <p:cNvPr id="22" name="Text 20"/>
          <p:cNvSpPr/>
          <p:nvPr/>
        </p:nvSpPr>
        <p:spPr>
          <a:xfrm>
            <a:off x="10789920" y="6537960"/>
            <a:ext cx="914400" cy="22860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F766E"/>
          </a:solidFill>
          <a:ln/>
        </p:spPr>
      </p:sp>
      <p:sp>
        <p:nvSpPr>
          <p:cNvPr id="3" name="Text 1"/>
          <p:cNvSpPr/>
          <p:nvPr/>
        </p:nvSpPr>
        <p:spPr>
          <a:xfrm>
            <a:off x="411480" y="164592"/>
            <a:ext cx="11338560" cy="36576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አጭር ማጠቃለያ (አማርኛ)</a:t>
            </a:r>
            <a:endParaRPr lang="en-US" sz="2200" dirty="0"/>
          </a:p>
        </p:txBody>
      </p:sp>
      <p:sp>
        <p:nvSpPr>
          <p:cNvPr id="4" name="Text 2"/>
          <p:cNvSpPr/>
          <p:nvPr/>
        </p:nvSpPr>
        <p:spPr>
          <a:xfrm>
            <a:off x="411480" y="530352"/>
            <a:ext cx="11338560" cy="292608"/>
          </a:xfrm>
          <a:prstGeom prst="rect">
            <a:avLst/>
          </a:prstGeom>
          <a:noFill/>
          <a:ln/>
        </p:spPr>
        <p:txBody>
          <a:bodyPr wrap="square" rtlCol="0" anchor="ctr"/>
          <a:lstStyle/>
          <a:p>
            <a:pPr indent="0" marL="0">
              <a:buNone/>
            </a:pPr>
            <a:r>
              <a:rPr lang="en-US" sz="1200" dirty="0">
                <a:solidFill>
                  <a:srgbClr val="CCFBF1"/>
                </a:solidFill>
                <a:latin typeface="Calibri" pitchFamily="34" charset="0"/>
                <a:ea typeface="Calibri" pitchFamily="34" charset="-122"/>
                <a:cs typeface="Calibri" pitchFamily="34" charset="-120"/>
              </a:rPr>
              <a:t>ለትምህርት ቤት ባለቤቶችና ከፍተኛ አመራር</a:t>
            </a:r>
            <a:endParaRPr lang="en-US" sz="1200" dirty="0"/>
          </a:p>
        </p:txBody>
      </p:sp>
      <p:sp>
        <p:nvSpPr>
          <p:cNvPr id="5" name="Shape 3"/>
          <p:cNvSpPr/>
          <p:nvPr/>
        </p:nvSpPr>
        <p:spPr>
          <a:xfrm>
            <a:off x="365760" y="1097280"/>
            <a:ext cx="11430000" cy="1051560"/>
          </a:xfrm>
          <a:prstGeom prst="roundRect">
            <a:avLst>
              <a:gd name="adj" fmla="val 8696"/>
            </a:avLst>
          </a:prstGeom>
          <a:solidFill>
            <a:srgbClr val="FFFBEB"/>
          </a:solidFill>
          <a:ln/>
        </p:spPr>
      </p:sp>
      <p:sp>
        <p:nvSpPr>
          <p:cNvPr id="6" name="Text 4"/>
          <p:cNvSpPr/>
          <p:nvPr/>
        </p:nvSpPr>
        <p:spPr>
          <a:xfrm>
            <a:off x="594360" y="1234440"/>
            <a:ext cx="10972800" cy="822960"/>
          </a:xfrm>
          <a:prstGeom prst="rect">
            <a:avLst/>
          </a:prstGeom>
          <a:noFill/>
          <a:ln/>
        </p:spPr>
        <p:txBody>
          <a:bodyPr wrap="square" rtlCol="0" anchor="ctr"/>
          <a:lstStyle/>
          <a:p>
            <a:pPr indent="0" marL="0">
              <a:buNone/>
            </a:pPr>
            <a:r>
              <a:rPr lang="en-US" sz="1400" dirty="0">
                <a:solidFill>
                  <a:srgbClr val="0F172A"/>
                </a:solidFill>
                <a:latin typeface="Nyala" pitchFamily="34" charset="0"/>
                <a:ea typeface="Nyala" pitchFamily="34" charset="-122"/>
                <a:cs typeface="Nyala" pitchFamily="34" charset="-120"/>
              </a:rPr>
              <a:t>ኢትዮጵያ በ Digital Ethiopia 2030 ዲጂታል አገልግሎትን እያጠናከረች ነው። የትምህርት ሚኒስቴርም ዲጂታል ትምህርትን ለጥራትና ተደራሽነት አስፈላጊ አድርጎ ያስቀምጣል። ማያቤላ ትምህርት ቤቶች ይህን አቅጣጫ በተግባር እንዲከተሉ የሚረዳ የትምህርት ቤት ስርዓት ነው።</a:t>
            </a:r>
            <a:endParaRPr lang="en-US" sz="1400" dirty="0"/>
          </a:p>
        </p:txBody>
      </p:sp>
      <p:sp>
        <p:nvSpPr>
          <p:cNvPr id="7" name="Shape 5"/>
          <p:cNvSpPr/>
          <p:nvPr/>
        </p:nvSpPr>
        <p:spPr>
          <a:xfrm>
            <a:off x="365760" y="2331720"/>
            <a:ext cx="5623560" cy="1828800"/>
          </a:xfrm>
          <a:prstGeom prst="roundRect">
            <a:avLst>
              <a:gd name="adj" fmla="val 5000"/>
            </a:avLst>
          </a:prstGeom>
          <a:solidFill>
            <a:srgbClr val="F1F5F9"/>
          </a:solidFill>
          <a:ln/>
        </p:spPr>
      </p:sp>
      <p:sp>
        <p:nvSpPr>
          <p:cNvPr id="8" name="Text 6"/>
          <p:cNvSpPr/>
          <p:nvPr/>
        </p:nvSpPr>
        <p:spPr>
          <a:xfrm>
            <a:off x="594360" y="2514600"/>
            <a:ext cx="5166360" cy="365760"/>
          </a:xfrm>
          <a:prstGeom prst="rect">
            <a:avLst/>
          </a:prstGeom>
          <a:noFill/>
          <a:ln/>
        </p:spPr>
        <p:txBody>
          <a:bodyPr wrap="square" rtlCol="0" anchor="ctr"/>
          <a:lstStyle/>
          <a:p>
            <a:pPr indent="0" marL="0">
              <a:buNone/>
            </a:pPr>
            <a:r>
              <a:rPr lang="en-US" sz="1600" b="1" dirty="0">
                <a:solidFill>
                  <a:srgbClr val="115E59"/>
                </a:solidFill>
                <a:latin typeface="Nyala" pitchFamily="34" charset="0"/>
                <a:ea typeface="Nyala" pitchFamily="34" charset="-122"/>
                <a:cs typeface="Nyala" pitchFamily="34" charset="-120"/>
              </a:rPr>
              <a:t>ችግሩ</a:t>
            </a:r>
            <a:endParaRPr lang="en-US" sz="1600" dirty="0"/>
          </a:p>
        </p:txBody>
      </p:sp>
      <p:sp>
        <p:nvSpPr>
          <p:cNvPr id="9" name="Text 7"/>
          <p:cNvSpPr/>
          <p:nvPr/>
        </p:nvSpPr>
        <p:spPr>
          <a:xfrm>
            <a:off x="594360" y="2971800"/>
            <a:ext cx="5166360" cy="1051560"/>
          </a:xfrm>
          <a:prstGeom prst="rect">
            <a:avLst/>
          </a:prstGeom>
          <a:noFill/>
          <a:ln/>
        </p:spPr>
        <p:txBody>
          <a:bodyPr wrap="square" rtlCol="0" anchor="ctr"/>
          <a:lstStyle/>
          <a:p>
            <a:pPr indent="0" marL="0">
              <a:buNone/>
            </a:pPr>
            <a:r>
              <a:rPr lang="en-US" sz="1300" dirty="0">
                <a:solidFill>
                  <a:srgbClr val="0F172A"/>
                </a:solidFill>
                <a:latin typeface="Nyala" pitchFamily="34" charset="0"/>
                <a:ea typeface="Nyala" pitchFamily="34" charset="-122"/>
                <a:cs typeface="Nyala" pitchFamily="34" charset="-120"/>
              </a:rPr>
              <a:t>ኤክሴል፣ ወረቀትና ዋትስአፕ — አንድ እውነተኛ መረጃ የለም። ባለቤቱ ችግርን ዘግይቶ ይሰማል። የውጤት ጥራት ቁጥጥር ደካማ ነው።</a:t>
            </a:r>
            <a:endParaRPr lang="en-US" sz="1300" dirty="0"/>
          </a:p>
        </p:txBody>
      </p:sp>
      <p:sp>
        <p:nvSpPr>
          <p:cNvPr id="10" name="Shape 8"/>
          <p:cNvSpPr/>
          <p:nvPr/>
        </p:nvSpPr>
        <p:spPr>
          <a:xfrm>
            <a:off x="6217920" y="2331720"/>
            <a:ext cx="5623560" cy="1828800"/>
          </a:xfrm>
          <a:prstGeom prst="roundRect">
            <a:avLst>
              <a:gd name="adj" fmla="val 5000"/>
            </a:avLst>
          </a:prstGeom>
          <a:solidFill>
            <a:srgbClr val="F1F5F9"/>
          </a:solidFill>
          <a:ln/>
        </p:spPr>
      </p:sp>
      <p:sp>
        <p:nvSpPr>
          <p:cNvPr id="11" name="Text 9"/>
          <p:cNvSpPr/>
          <p:nvPr/>
        </p:nvSpPr>
        <p:spPr>
          <a:xfrm>
            <a:off x="6446520" y="2514600"/>
            <a:ext cx="5166360" cy="365760"/>
          </a:xfrm>
          <a:prstGeom prst="rect">
            <a:avLst/>
          </a:prstGeom>
          <a:noFill/>
          <a:ln/>
        </p:spPr>
        <p:txBody>
          <a:bodyPr wrap="square" rtlCol="0" anchor="ctr"/>
          <a:lstStyle/>
          <a:p>
            <a:pPr indent="0" marL="0">
              <a:buNone/>
            </a:pPr>
            <a:r>
              <a:rPr lang="en-US" sz="1600" b="1" dirty="0">
                <a:solidFill>
                  <a:srgbClr val="115E59"/>
                </a:solidFill>
                <a:latin typeface="Nyala" pitchFamily="34" charset="0"/>
                <a:ea typeface="Nyala" pitchFamily="34" charset="-122"/>
                <a:cs typeface="Nyala" pitchFamily="34" charset="-120"/>
              </a:rPr>
              <a:t>ከሌሎች ስርዓቶች ልዩነት</a:t>
            </a:r>
            <a:endParaRPr lang="en-US" sz="1600" dirty="0"/>
          </a:p>
        </p:txBody>
      </p:sp>
      <p:sp>
        <p:nvSpPr>
          <p:cNvPr id="12" name="Text 10"/>
          <p:cNvSpPr/>
          <p:nvPr/>
        </p:nvSpPr>
        <p:spPr>
          <a:xfrm>
            <a:off x="6446520" y="2971800"/>
            <a:ext cx="5166360" cy="1051560"/>
          </a:xfrm>
          <a:prstGeom prst="rect">
            <a:avLst/>
          </a:prstGeom>
          <a:noFill/>
          <a:ln/>
        </p:spPr>
        <p:txBody>
          <a:bodyPr wrap="square" rtlCol="0" anchor="ctr"/>
          <a:lstStyle/>
          <a:p>
            <a:pPr indent="0" marL="0">
              <a:buNone/>
            </a:pPr>
            <a:r>
              <a:rPr lang="en-US" sz="1300" dirty="0">
                <a:solidFill>
                  <a:srgbClr val="0F172A"/>
                </a:solidFill>
                <a:latin typeface="Nyala" pitchFamily="34" charset="0"/>
                <a:ea typeface="Nyala" pitchFamily="34" charset="-122"/>
                <a:cs typeface="Nyala" pitchFamily="34" charset="-120"/>
              </a:rPr>
              <a:t>ብዙ አፕሊኬሽኖች ተማሪ/ክፍያ/ፈተና ያስተዳድራሉ። ማያቤላ ግን አመራር ቁጥጥር፣ የውጤት ማጽደቅ፣ ባስ ትራንስፖርት፣ ኢንቬንቶሪ — አንድ ላይ ያቀርባል።</a:t>
            </a:r>
            <a:endParaRPr lang="en-US" sz="1300" dirty="0"/>
          </a:p>
        </p:txBody>
      </p:sp>
      <p:sp>
        <p:nvSpPr>
          <p:cNvPr id="13" name="Shape 11"/>
          <p:cNvSpPr/>
          <p:nvPr/>
        </p:nvSpPr>
        <p:spPr>
          <a:xfrm>
            <a:off x="365760" y="4297680"/>
            <a:ext cx="5623560" cy="1828800"/>
          </a:xfrm>
          <a:prstGeom prst="roundRect">
            <a:avLst>
              <a:gd name="adj" fmla="val 5000"/>
            </a:avLst>
          </a:prstGeom>
          <a:solidFill>
            <a:srgbClr val="F1F5F9"/>
          </a:solidFill>
          <a:ln/>
        </p:spPr>
      </p:sp>
      <p:sp>
        <p:nvSpPr>
          <p:cNvPr id="14" name="Text 12"/>
          <p:cNvSpPr/>
          <p:nvPr/>
        </p:nvSpPr>
        <p:spPr>
          <a:xfrm>
            <a:off x="594360" y="4480560"/>
            <a:ext cx="5166360" cy="365760"/>
          </a:xfrm>
          <a:prstGeom prst="rect">
            <a:avLst/>
          </a:prstGeom>
          <a:noFill/>
          <a:ln/>
        </p:spPr>
        <p:txBody>
          <a:bodyPr wrap="square" rtlCol="0" anchor="ctr"/>
          <a:lstStyle/>
          <a:p>
            <a:pPr indent="0" marL="0">
              <a:buNone/>
            </a:pPr>
            <a:r>
              <a:rPr lang="en-US" sz="1600" b="1" dirty="0">
                <a:solidFill>
                  <a:srgbClr val="115E59"/>
                </a:solidFill>
                <a:latin typeface="Nyala" pitchFamily="34" charset="0"/>
                <a:ea typeface="Nyala" pitchFamily="34" charset="-122"/>
                <a:cs typeface="Nyala" pitchFamily="34" charset="-120"/>
              </a:rPr>
              <a:t>ጥራት</a:t>
            </a:r>
            <a:endParaRPr lang="en-US" sz="1600" dirty="0"/>
          </a:p>
        </p:txBody>
      </p:sp>
      <p:sp>
        <p:nvSpPr>
          <p:cNvPr id="15" name="Text 13"/>
          <p:cNvSpPr/>
          <p:nvPr/>
        </p:nvSpPr>
        <p:spPr>
          <a:xfrm>
            <a:off x="594360" y="4937760"/>
            <a:ext cx="5166360" cy="1051560"/>
          </a:xfrm>
          <a:prstGeom prst="rect">
            <a:avLst/>
          </a:prstGeom>
          <a:noFill/>
          <a:ln/>
        </p:spPr>
        <p:txBody>
          <a:bodyPr wrap="square" rtlCol="0" anchor="ctr"/>
          <a:lstStyle/>
          <a:p>
            <a:pPr indent="0" marL="0">
              <a:buNone/>
            </a:pPr>
            <a:r>
              <a:rPr lang="en-US" sz="1300" dirty="0">
                <a:solidFill>
                  <a:srgbClr val="0F172A"/>
                </a:solidFill>
                <a:latin typeface="Nyala" pitchFamily="34" charset="0"/>
                <a:ea typeface="Nyala" pitchFamily="34" charset="-122"/>
                <a:cs typeface="Nyala" pitchFamily="34" charset="-120"/>
              </a:rPr>
              <a:t>መምህር ውጤት ያስገባል → አመራር ያጸድቃል → ከዚያ ወላጅ ያያል። እያንዳንዱ ሚና የራሱ ፈቃድ አለው። የትምህርት ቤቱ መረጃ ተለይቶ ይጠበቃል።</a:t>
            </a:r>
            <a:endParaRPr lang="en-US" sz="1300" dirty="0"/>
          </a:p>
        </p:txBody>
      </p:sp>
      <p:sp>
        <p:nvSpPr>
          <p:cNvPr id="16" name="Shape 14"/>
          <p:cNvSpPr/>
          <p:nvPr/>
        </p:nvSpPr>
        <p:spPr>
          <a:xfrm>
            <a:off x="6217920" y="4297680"/>
            <a:ext cx="5623560" cy="1828800"/>
          </a:xfrm>
          <a:prstGeom prst="roundRect">
            <a:avLst>
              <a:gd name="adj" fmla="val 5000"/>
            </a:avLst>
          </a:prstGeom>
          <a:solidFill>
            <a:srgbClr val="F1F5F9"/>
          </a:solidFill>
          <a:ln/>
        </p:spPr>
      </p:sp>
      <p:sp>
        <p:nvSpPr>
          <p:cNvPr id="17" name="Text 15"/>
          <p:cNvSpPr/>
          <p:nvPr/>
        </p:nvSpPr>
        <p:spPr>
          <a:xfrm>
            <a:off x="6446520" y="4480560"/>
            <a:ext cx="5166360" cy="365760"/>
          </a:xfrm>
          <a:prstGeom prst="rect">
            <a:avLst/>
          </a:prstGeom>
          <a:noFill/>
          <a:ln/>
        </p:spPr>
        <p:txBody>
          <a:bodyPr wrap="square" rtlCol="0" anchor="ctr"/>
          <a:lstStyle/>
          <a:p>
            <a:pPr indent="0" marL="0">
              <a:buNone/>
            </a:pPr>
            <a:r>
              <a:rPr lang="en-US" sz="1600" b="1" dirty="0">
                <a:solidFill>
                  <a:srgbClr val="115E59"/>
                </a:solidFill>
                <a:latin typeface="Nyala" pitchFamily="34" charset="0"/>
                <a:ea typeface="Nyala" pitchFamily="34" charset="-122"/>
                <a:cs typeface="Nyala" pitchFamily="34" charset="-120"/>
              </a:rPr>
              <a:t>ዋጋ (ኮት)</a:t>
            </a:r>
            <a:endParaRPr lang="en-US" sz="1600" dirty="0"/>
          </a:p>
        </p:txBody>
      </p:sp>
      <p:sp>
        <p:nvSpPr>
          <p:cNvPr id="18" name="Text 16"/>
          <p:cNvSpPr/>
          <p:nvPr/>
        </p:nvSpPr>
        <p:spPr>
          <a:xfrm>
            <a:off x="6446520" y="4937760"/>
            <a:ext cx="5166360" cy="1051560"/>
          </a:xfrm>
          <a:prstGeom prst="rect">
            <a:avLst/>
          </a:prstGeom>
          <a:noFill/>
          <a:ln/>
        </p:spPr>
        <p:txBody>
          <a:bodyPr wrap="square" rtlCol="0" anchor="ctr"/>
          <a:lstStyle/>
          <a:p>
            <a:pPr indent="0" marL="0">
              <a:buNone/>
            </a:pPr>
            <a:r>
              <a:rPr lang="en-US" sz="1300" dirty="0">
                <a:solidFill>
                  <a:srgbClr val="0F172A"/>
                </a:solidFill>
                <a:latin typeface="Nyala" pitchFamily="34" charset="0"/>
                <a:ea typeface="Nyala" pitchFamily="34" charset="-122"/>
                <a:cs typeface="Nyala" pitchFamily="34" charset="-120"/>
              </a:rPr>
              <a:t>ለአንድ ተማሪ ከ 200 እስከ 400 ብር + 15% ተ.እ.ታ። መምህራን/ወላጆች/ሹፌሮች በተማሪ አይከፈሉም። ምሳሌ፡ 300 ተማሪ × 300 = 90,000 + ተ.እ.ታ 13,500 = 103,500 ብር።</a:t>
            </a:r>
            <a:endParaRPr lang="en-US" sz="1300" dirty="0"/>
          </a:p>
        </p:txBody>
      </p:sp>
      <p:sp>
        <p:nvSpPr>
          <p:cNvPr id="19" name="Text 17"/>
          <p:cNvSpPr/>
          <p:nvPr/>
        </p:nvSpPr>
        <p:spPr>
          <a:xfrm>
            <a:off x="365760" y="6537960"/>
            <a:ext cx="9601200" cy="22860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MayaBela · Confidential · School leadership briefing</a:t>
            </a:r>
            <a:endParaRPr lang="en-US" sz="900" dirty="0"/>
          </a:p>
        </p:txBody>
      </p:sp>
      <p:sp>
        <p:nvSpPr>
          <p:cNvPr id="20" name="Text 18"/>
          <p:cNvSpPr/>
          <p:nvPr/>
        </p:nvSpPr>
        <p:spPr>
          <a:xfrm>
            <a:off x="10789920" y="6537960"/>
            <a:ext cx="914400" cy="228600"/>
          </a:xfrm>
          <a:prstGeom prst="rect">
            <a:avLst/>
          </a:prstGeom>
          <a:noFill/>
          <a:ln/>
        </p:spPr>
        <p:txBody>
          <a:bodyPr wrap="square" rtlCol="0" anchor="ctr"/>
          <a:lstStyle/>
          <a:p>
            <a:pPr algn="r" indent="0" marL="0">
              <a:buNone/>
            </a:pPr>
            <a:r>
              <a:rPr lang="en-US" sz="900" dirty="0">
                <a:solidFill>
                  <a:srgbClr val="475569"/>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5E59"/>
          </a:solidFill>
          <a:ln/>
        </p:spPr>
      </p:sp>
      <p:sp>
        <p:nvSpPr>
          <p:cNvPr id="3" name="Text 1"/>
          <p:cNvSpPr/>
          <p:nvPr/>
        </p:nvSpPr>
        <p:spPr>
          <a:xfrm>
            <a:off x="640080" y="1188720"/>
            <a:ext cx="10972800" cy="128016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The schools that win the next decade</a:t>
            </a:r>
            <a:endParaRPr lang="en-US" sz="2800" dirty="0"/>
          </a:p>
          <a:p>
            <a:pPr indent="0" marL="0">
              <a:buNone/>
            </a:pPr>
            <a:r>
              <a:rPr lang="en-US" sz="2800" b="1" dirty="0">
                <a:solidFill>
                  <a:srgbClr val="FFFFFF"/>
                </a:solidFill>
                <a:latin typeface="Calibri" pitchFamily="34" charset="0"/>
                <a:ea typeface="Calibri" pitchFamily="34" charset="-122"/>
                <a:cs typeface="Calibri" pitchFamily="34" charset="-120"/>
              </a:rPr>
              <a:t>will run on data, trust, and speed.</a:t>
            </a:r>
            <a:endParaRPr lang="en-US" sz="2800" dirty="0"/>
          </a:p>
        </p:txBody>
      </p:sp>
      <p:sp>
        <p:nvSpPr>
          <p:cNvPr id="4" name="Text 2"/>
          <p:cNvSpPr/>
          <p:nvPr/>
        </p:nvSpPr>
        <p:spPr>
          <a:xfrm>
            <a:off x="640080" y="2651760"/>
            <a:ext cx="10972800" cy="1005840"/>
          </a:xfrm>
          <a:prstGeom prst="rect">
            <a:avLst/>
          </a:prstGeom>
          <a:noFill/>
          <a:ln/>
        </p:spPr>
        <p:txBody>
          <a:bodyPr wrap="square" rtlCol="0" anchor="ctr"/>
          <a:lstStyle/>
          <a:p>
            <a:pPr indent="0" marL="0">
              <a:buNone/>
            </a:pPr>
            <a:r>
              <a:rPr lang="en-US" sz="1800" dirty="0">
                <a:solidFill>
                  <a:srgbClr val="CCFBF1"/>
                </a:solidFill>
                <a:latin typeface="Calibri" pitchFamily="34" charset="0"/>
                <a:ea typeface="Calibri" pitchFamily="34" charset="-122"/>
                <a:cs typeface="Calibri" pitchFamily="34" charset="-120"/>
              </a:rPr>
              <a:t>Digital Ethiopia is the national direction.</a:t>
            </a:r>
            <a:endParaRPr lang="en-US" sz="1800" dirty="0"/>
          </a:p>
          <a:p>
            <a:pPr indent="0" marL="0">
              <a:buNone/>
            </a:pPr>
            <a:r>
              <a:rPr lang="en-US" sz="1800" dirty="0">
                <a:solidFill>
                  <a:srgbClr val="CCFBF1"/>
                </a:solidFill>
                <a:latin typeface="Calibri" pitchFamily="34" charset="0"/>
                <a:ea typeface="Calibri" pitchFamily="34" charset="-122"/>
                <a:cs typeface="Calibri" pitchFamily="34" charset="-120"/>
              </a:rPr>
              <a:t>MayaBela is how your school can execute it — tomorrow morning.</a:t>
            </a:r>
            <a:endParaRPr lang="en-US" sz="1800" dirty="0"/>
          </a:p>
        </p:txBody>
      </p:sp>
      <p:sp>
        <p:nvSpPr>
          <p:cNvPr id="5" name="Text 3"/>
          <p:cNvSpPr/>
          <p:nvPr/>
        </p:nvSpPr>
        <p:spPr>
          <a:xfrm>
            <a:off x="640080" y="3840480"/>
            <a:ext cx="10972800" cy="411480"/>
          </a:xfrm>
          <a:prstGeom prst="rect">
            <a:avLst/>
          </a:prstGeom>
          <a:noFill/>
          <a:ln/>
        </p:spPr>
        <p:txBody>
          <a:bodyPr wrap="square" rtlCol="0" anchor="ctr"/>
          <a:lstStyle/>
          <a:p>
            <a:pPr indent="0" marL="0">
              <a:buNone/>
            </a:pPr>
            <a:r>
              <a:rPr lang="en-US" sz="1800" b="1" dirty="0">
                <a:solidFill>
                  <a:srgbClr val="FFFFFF"/>
                </a:solidFill>
                <a:latin typeface="Nyala" pitchFamily="34" charset="0"/>
                <a:ea typeface="Nyala" pitchFamily="34" charset="-122"/>
                <a:cs typeface="Nyala" pitchFamily="34" charset="-120"/>
              </a:rPr>
              <a:t>ኢንቬስትመንት፡ 200–400 ብር / ተማሪ + 15% ተ.እ.ታ</a:t>
            </a:r>
            <a:endParaRPr lang="en-US" sz="1800" dirty="0"/>
          </a:p>
        </p:txBody>
      </p:sp>
      <p:sp>
        <p:nvSpPr>
          <p:cNvPr id="6" name="Text 4"/>
          <p:cNvSpPr/>
          <p:nvPr/>
        </p:nvSpPr>
        <p:spPr>
          <a:xfrm>
            <a:off x="640080" y="4572000"/>
            <a:ext cx="10972800" cy="91440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Live demo: https://mayabela.pages.dev</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+251 911 646 444  ·  nabilmaya6464@gmail.com</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MayaBela — Executive Briefing for School Owners</dc:title>
  <dc:subject>Short convincing pitch: Digital Ethiopia, problems solved, vs other school systems</dc:subject>
  <dc:creator>MayaBela</dc:creator>
  <cp:lastModifiedBy>MayaBela</cp:lastModifiedBy>
  <cp:revision>1</cp:revision>
  <dcterms:created xsi:type="dcterms:W3CDTF">2026-08-10T18:49:35Z</dcterms:created>
  <dcterms:modified xsi:type="dcterms:W3CDTF">2026-08-10T18:49:35Z</dcterms:modified>
</cp:coreProperties>
</file>